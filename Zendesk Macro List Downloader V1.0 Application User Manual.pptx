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67" r:id="rId3"/>
    <p:sldId id="591" r:id="rId4"/>
    <p:sldId id="1009" r:id="rId5"/>
    <p:sldId id="1010" r:id="rId6"/>
    <p:sldId id="1011" r:id="rId7"/>
    <p:sldId id="1012" r:id="rId8"/>
    <p:sldId id="1013" r:id="rId9"/>
    <p:sldId id="1014" r:id="rId10"/>
    <p:sldId id="592" r:id="rId11"/>
    <p:sldId id="1015" r:id="rId12"/>
    <p:sldId id="1016" r:id="rId13"/>
    <p:sldId id="1017" r:id="rId14"/>
    <p:sldId id="270" r:id="rId15"/>
    <p:sldId id="27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A081"/>
    <a:srgbClr val="BCC2CE"/>
    <a:srgbClr val="89838D"/>
    <a:srgbClr val="E5B791"/>
    <a:srgbClr val="313844"/>
    <a:srgbClr val="235677"/>
    <a:srgbClr val="5392B3"/>
    <a:srgbClr val="E6E6E6"/>
    <a:srgbClr val="244352"/>
    <a:srgbClr val="EAC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21" autoAdjust="0"/>
    <p:restoredTop sz="94660"/>
  </p:normalViewPr>
  <p:slideViewPr>
    <p:cSldViewPr snapToGrid="0">
      <p:cViewPr varScale="1">
        <p:scale>
          <a:sx n="81" d="100"/>
          <a:sy n="81" d="100"/>
        </p:scale>
        <p:origin x="96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FF1309-3536-4723-9A85-D4444008A1B4}" type="datetimeFigureOut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E8656D-38B5-4A55-8467-7223D1332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30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쿠팡의 즉시 환불 정책은 회수와 환불의 지연으로 인해 발생하는 고객의 불편함을 제거하기 위해</a:t>
            </a:r>
            <a:endParaRPr lang="en-US" altLang="ko-KR"/>
          </a:p>
          <a:p>
            <a:r>
              <a:rPr lang="ko-KR" altLang="en-US"/>
              <a:t>회수보다 환불을 먼저 진행하는 절차를 의미합니다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반품을 요청하게 되면 회수가 진행되고</a:t>
            </a:r>
            <a:r>
              <a:rPr lang="en-US" altLang="ko-KR"/>
              <a:t>, </a:t>
            </a:r>
            <a:r>
              <a:rPr lang="ko-KR" altLang="en-US"/>
              <a:t>업체에서 검수를 진행한 후에 환불을 진행하는 것이 일반적입니다</a:t>
            </a:r>
            <a:r>
              <a:rPr lang="en-US" altLang="ko-KR"/>
              <a:t>.</a:t>
            </a:r>
          </a:p>
          <a:p>
            <a:r>
              <a:rPr lang="ko-KR" altLang="en-US"/>
              <a:t>그러나 이러한 과정은 시일이 오래 소요되기 때문에 고객이 불편함을 겪을 수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쿠팡에서는 로켓 배송 일부 상품에 대해 고객이 반품을 요청한 즉시 환불을 진행하고 이후에 회수 절차를 진행하여 교객의 편의를 도모합니다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단 즉시 환불은 쿠팡의 모든 상품에 해당하는 정책이 아니므로 즉시 환불이 가능한 조건들을 잘 숙지하셔야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239B-AAF2-4BFC-9075-BC9CBBD2E0C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043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쿠팡의 즉시 환불 정책은 회수와 환불의 지연으로 인해 발생하는 고객의 불편함을 제거하기 위해</a:t>
            </a:r>
            <a:endParaRPr lang="en-US" altLang="ko-KR"/>
          </a:p>
          <a:p>
            <a:r>
              <a:rPr lang="ko-KR" altLang="en-US"/>
              <a:t>회수보다 환불을 먼저 진행하는 절차를 의미합니다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반품을 요청하게 되면 회수가 진행되고</a:t>
            </a:r>
            <a:r>
              <a:rPr lang="en-US" altLang="ko-KR"/>
              <a:t>, </a:t>
            </a:r>
            <a:r>
              <a:rPr lang="ko-KR" altLang="en-US"/>
              <a:t>업체에서 검수를 진행한 후에 환불을 진행하는 것이 일반적입니다</a:t>
            </a:r>
            <a:r>
              <a:rPr lang="en-US" altLang="ko-KR"/>
              <a:t>.</a:t>
            </a:r>
          </a:p>
          <a:p>
            <a:r>
              <a:rPr lang="ko-KR" altLang="en-US"/>
              <a:t>그러나 이러한 과정은 시일이 오래 소요되기 때문에 고객이 불편함을 겪을 수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쿠팡에서는 로켓 배송 일부 상품에 대해 고객이 반품을 요청한 즉시 환불을 진행하고 이후에 회수 절차를 진행하여 교객의 편의를 도모합니다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단 즉시 환불은 쿠팡의 모든 상품에 해당하는 정책이 아니므로 즉시 환불이 가능한 조건들을 잘 숙지하셔야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239B-AAF2-4BFC-9075-BC9CBBD2E0C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752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쿠팡의 즉시 환불 정책은 회수와 환불의 지연으로 인해 발생하는 고객의 불편함을 제거하기 위해</a:t>
            </a:r>
            <a:endParaRPr lang="en-US" altLang="ko-KR"/>
          </a:p>
          <a:p>
            <a:r>
              <a:rPr lang="ko-KR" altLang="en-US"/>
              <a:t>회수보다 환불을 먼저 진행하는 절차를 의미합니다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반품을 요청하게 되면 회수가 진행되고</a:t>
            </a:r>
            <a:r>
              <a:rPr lang="en-US" altLang="ko-KR"/>
              <a:t>, </a:t>
            </a:r>
            <a:r>
              <a:rPr lang="ko-KR" altLang="en-US"/>
              <a:t>업체에서 검수를 진행한 후에 환불을 진행하는 것이 일반적입니다</a:t>
            </a:r>
            <a:r>
              <a:rPr lang="en-US" altLang="ko-KR"/>
              <a:t>.</a:t>
            </a:r>
          </a:p>
          <a:p>
            <a:r>
              <a:rPr lang="ko-KR" altLang="en-US"/>
              <a:t>그러나 이러한 과정은 시일이 오래 소요되기 때문에 고객이 불편함을 겪을 수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쿠팡에서는 로켓 배송 일부 상품에 대해 고객이 반품을 요청한 즉시 환불을 진행하고 이후에 회수 절차를 진행하여 교객의 편의를 도모합니다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단 즉시 환불은 쿠팡의 모든 상품에 해당하는 정책이 아니므로 즉시 환불이 가능한 조건들을 잘 숙지하셔야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239B-AAF2-4BFC-9075-BC9CBBD2E0C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890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쿠팡의 즉시 환불 정책은 회수와 환불의 지연으로 인해 발생하는 고객의 불편함을 제거하기 위해</a:t>
            </a:r>
            <a:endParaRPr lang="en-US" altLang="ko-KR"/>
          </a:p>
          <a:p>
            <a:r>
              <a:rPr lang="ko-KR" altLang="en-US"/>
              <a:t>회수보다 환불을 먼저 진행하는 절차를 의미합니다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반품을 요청하게 되면 회수가 진행되고</a:t>
            </a:r>
            <a:r>
              <a:rPr lang="en-US" altLang="ko-KR"/>
              <a:t>, </a:t>
            </a:r>
            <a:r>
              <a:rPr lang="ko-KR" altLang="en-US"/>
              <a:t>업체에서 검수를 진행한 후에 환불을 진행하는 것이 일반적입니다</a:t>
            </a:r>
            <a:r>
              <a:rPr lang="en-US" altLang="ko-KR"/>
              <a:t>.</a:t>
            </a:r>
          </a:p>
          <a:p>
            <a:r>
              <a:rPr lang="ko-KR" altLang="en-US"/>
              <a:t>그러나 이러한 과정은 시일이 오래 소요되기 때문에 고객이 불편함을 겪을 수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쿠팡에서는 로켓 배송 일부 상품에 대해 고객이 반품을 요청한 즉시 환불을 진행하고 이후에 회수 절차를 진행하여 교객의 편의를 도모합니다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단 즉시 환불은 쿠팡의 모든 상품에 해당하는 정책이 아니므로 즉시 환불이 가능한 조건들을 잘 숙지하셔야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239B-AAF2-4BFC-9075-BC9CBBD2E0C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616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쿠팡의 즉시 환불 정책은 회수와 환불의 지연으로 인해 발생하는 고객의 불편함을 제거하기 위해</a:t>
            </a:r>
            <a:endParaRPr lang="en-US" altLang="ko-KR"/>
          </a:p>
          <a:p>
            <a:r>
              <a:rPr lang="ko-KR" altLang="en-US"/>
              <a:t>회수보다 환불을 먼저 진행하는 절차를 의미합니다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반품을 요청하게 되면 회수가 진행되고</a:t>
            </a:r>
            <a:r>
              <a:rPr lang="en-US" altLang="ko-KR"/>
              <a:t>, </a:t>
            </a:r>
            <a:r>
              <a:rPr lang="ko-KR" altLang="en-US"/>
              <a:t>업체에서 검수를 진행한 후에 환불을 진행하는 것이 일반적입니다</a:t>
            </a:r>
            <a:r>
              <a:rPr lang="en-US" altLang="ko-KR"/>
              <a:t>.</a:t>
            </a:r>
          </a:p>
          <a:p>
            <a:r>
              <a:rPr lang="ko-KR" altLang="en-US"/>
              <a:t>그러나 이러한 과정은 시일이 오래 소요되기 때문에 고객이 불편함을 겪을 수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쿠팡에서는 로켓 배송 일부 상품에 대해 고객이 반품을 요청한 즉시 환불을 진행하고 이후에 회수 절차를 진행하여 교객의 편의를 도모합니다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단 즉시 환불은 쿠팡의 모든 상품에 해당하는 정책이 아니므로 즉시 환불이 가능한 조건들을 잘 숙지하셔야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239B-AAF2-4BFC-9075-BC9CBBD2E0C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8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rgbClr val="4E8F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1649EA3B-991B-4700-BB28-56E5BBA22AC8}"/>
              </a:ext>
            </a:extLst>
          </p:cNvPr>
          <p:cNvSpPr/>
          <p:nvPr userDrawn="1"/>
        </p:nvSpPr>
        <p:spPr>
          <a:xfrm>
            <a:off x="2436891" y="1834459"/>
            <a:ext cx="7318218" cy="31890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800" dirty="0">
              <a:solidFill>
                <a:srgbClr val="4E8FB0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509C8C-1DCD-4649-AAD9-51397C00A125}"/>
              </a:ext>
            </a:extLst>
          </p:cNvPr>
          <p:cNvSpPr txBox="1"/>
          <p:nvPr userDrawn="1"/>
        </p:nvSpPr>
        <p:spPr>
          <a:xfrm>
            <a:off x="4606705" y="3890347"/>
            <a:ext cx="2978590" cy="276999"/>
          </a:xfrm>
          <a:prstGeom prst="rect">
            <a:avLst/>
          </a:prstGeom>
          <a:solidFill>
            <a:srgbClr val="4E8FB0"/>
          </a:solidFill>
        </p:spPr>
        <p:txBody>
          <a:bodyPr wrap="square" rtlCol="0">
            <a:spAutoFit/>
          </a:bodyPr>
          <a:lstStyle/>
          <a:p>
            <a:pPr algn="ctr"/>
            <a:endParaRPr lang="ko-KR" altLang="en-US" sz="1200" dirty="0">
              <a:solidFill>
                <a:schemeClr val="bg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476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gradFill>
          <a:gsLst>
            <a:gs pos="0">
              <a:srgbClr val="5392B3"/>
            </a:gs>
            <a:gs pos="42000">
              <a:srgbClr val="5392B3"/>
            </a:gs>
            <a:gs pos="83000">
              <a:srgbClr val="BAD3E0"/>
            </a:gs>
            <a:gs pos="100000">
              <a:srgbClr val="BAD3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2C5D76E-E4A2-48D5-88B2-3B036736471F}"/>
              </a:ext>
            </a:extLst>
          </p:cNvPr>
          <p:cNvSpPr/>
          <p:nvPr userDrawn="1"/>
        </p:nvSpPr>
        <p:spPr>
          <a:xfrm>
            <a:off x="142875" y="142875"/>
            <a:ext cx="11906250" cy="657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4852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bg>
      <p:bgPr>
        <a:gradFill>
          <a:gsLst>
            <a:gs pos="0">
              <a:srgbClr val="5392B3"/>
            </a:gs>
            <a:gs pos="42000">
              <a:srgbClr val="5392B3"/>
            </a:gs>
            <a:gs pos="83000">
              <a:srgbClr val="BAD3E0"/>
            </a:gs>
            <a:gs pos="100000">
              <a:srgbClr val="BAD3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2C5D76E-E4A2-48D5-88B2-3B036736471F}"/>
              </a:ext>
            </a:extLst>
          </p:cNvPr>
          <p:cNvSpPr/>
          <p:nvPr userDrawn="1"/>
        </p:nvSpPr>
        <p:spPr>
          <a:xfrm>
            <a:off x="142875" y="142875"/>
            <a:ext cx="11906250" cy="6475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9B1D827C-175B-4AF1-BD12-0A12DE3060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0618" y="6660057"/>
            <a:ext cx="759454" cy="170784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7795DDA-53C8-442B-B63D-DDB02F3FBC73}"/>
              </a:ext>
            </a:extLst>
          </p:cNvPr>
          <p:cNvSpPr/>
          <p:nvPr userDrawn="1"/>
        </p:nvSpPr>
        <p:spPr>
          <a:xfrm>
            <a:off x="5403410" y="2736410"/>
            <a:ext cx="1385180" cy="1385180"/>
          </a:xfrm>
          <a:prstGeom prst="ellipse">
            <a:avLst/>
          </a:prstGeom>
          <a:gradFill flip="none" rotWithShape="1">
            <a:gsLst>
              <a:gs pos="0">
                <a:srgbClr val="5392B3"/>
              </a:gs>
              <a:gs pos="45000">
                <a:srgbClr val="5392B3"/>
              </a:gs>
              <a:gs pos="83000">
                <a:srgbClr val="BAD3E0"/>
              </a:gs>
              <a:gs pos="100000">
                <a:srgbClr val="BAD3E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7533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bg>
      <p:bgPr>
        <a:gradFill>
          <a:gsLst>
            <a:gs pos="0">
              <a:srgbClr val="5392B3"/>
            </a:gs>
            <a:gs pos="42000">
              <a:srgbClr val="5392B3"/>
            </a:gs>
            <a:gs pos="83000">
              <a:srgbClr val="BAD3E0"/>
            </a:gs>
            <a:gs pos="100000">
              <a:srgbClr val="BAD3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2C5D76E-E4A2-48D5-88B2-3B036736471F}"/>
              </a:ext>
            </a:extLst>
          </p:cNvPr>
          <p:cNvSpPr/>
          <p:nvPr userDrawn="1"/>
        </p:nvSpPr>
        <p:spPr>
          <a:xfrm>
            <a:off x="142875" y="142875"/>
            <a:ext cx="11906250" cy="6475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9B1D827C-175B-4AF1-BD12-0A12DE3060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0618" y="6660057"/>
            <a:ext cx="759454" cy="170784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7795DDA-53C8-442B-B63D-DDB02F3FBC73}"/>
              </a:ext>
            </a:extLst>
          </p:cNvPr>
          <p:cNvSpPr/>
          <p:nvPr userDrawn="1"/>
        </p:nvSpPr>
        <p:spPr>
          <a:xfrm>
            <a:off x="5403410" y="2736410"/>
            <a:ext cx="1385180" cy="1385180"/>
          </a:xfrm>
          <a:prstGeom prst="ellipse">
            <a:avLst/>
          </a:prstGeom>
          <a:gradFill flip="none" rotWithShape="1">
            <a:gsLst>
              <a:gs pos="0">
                <a:srgbClr val="D38341"/>
              </a:gs>
              <a:gs pos="45000">
                <a:srgbClr val="E7BA95"/>
              </a:gs>
              <a:gs pos="83000">
                <a:srgbClr val="E6E6E6"/>
              </a:gs>
              <a:gs pos="100000">
                <a:srgbClr val="F6E4D6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671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4045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gradFill>
          <a:gsLst>
            <a:gs pos="0">
              <a:srgbClr val="5392B3"/>
            </a:gs>
            <a:gs pos="42000">
              <a:srgbClr val="5392B3"/>
            </a:gs>
            <a:gs pos="83000">
              <a:srgbClr val="BAD3E0"/>
            </a:gs>
            <a:gs pos="100000">
              <a:srgbClr val="BAD3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2C5D76E-E4A2-48D5-88B2-3B036736471F}"/>
              </a:ext>
            </a:extLst>
          </p:cNvPr>
          <p:cNvSpPr/>
          <p:nvPr userDrawn="1"/>
        </p:nvSpPr>
        <p:spPr>
          <a:xfrm>
            <a:off x="142875" y="142875"/>
            <a:ext cx="11906250" cy="657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화살표: 오각형 7">
            <a:extLst>
              <a:ext uri="{FF2B5EF4-FFF2-40B4-BE49-F238E27FC236}">
                <a16:creationId xmlns:a16="http://schemas.microsoft.com/office/drawing/2014/main" id="{A0D19BFB-F48C-4F6F-AD0B-6CE1D1BF987E}"/>
              </a:ext>
            </a:extLst>
          </p:cNvPr>
          <p:cNvSpPr/>
          <p:nvPr userDrawn="1"/>
        </p:nvSpPr>
        <p:spPr>
          <a:xfrm>
            <a:off x="142874" y="361950"/>
            <a:ext cx="2857501" cy="504825"/>
          </a:xfrm>
          <a:prstGeom prst="homePlate">
            <a:avLst/>
          </a:prstGeom>
          <a:solidFill>
            <a:srgbClr val="539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1. 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제목을 입력하세요</a:t>
            </a: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en-US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38A86C-DB3A-47CD-AA16-6B8CE05655ED}"/>
              </a:ext>
            </a:extLst>
          </p:cNvPr>
          <p:cNvSpPr txBox="1"/>
          <p:nvPr userDrawn="1"/>
        </p:nvSpPr>
        <p:spPr>
          <a:xfrm>
            <a:off x="409575" y="1085850"/>
            <a:ext cx="3790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핵심 문구를 입력해 주세요</a:t>
            </a:r>
            <a:r>
              <a:rPr lang="en-US" altLang="ko-KR" b="1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(</a:t>
            </a:r>
            <a:r>
              <a:rPr lang="ko-KR" altLang="en-US" b="1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굵게</a:t>
            </a:r>
            <a:r>
              <a:rPr lang="en-US" altLang="ko-KR" b="1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/18P)</a:t>
            </a:r>
            <a:endParaRPr lang="ko-KR" altLang="en-US" b="1" dirty="0">
              <a:solidFill>
                <a:srgbClr val="313844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9AD550-57CC-4F39-819C-12B54D2FE220}"/>
              </a:ext>
            </a:extLst>
          </p:cNvPr>
          <p:cNvSpPr txBox="1"/>
          <p:nvPr userDrawn="1"/>
        </p:nvSpPr>
        <p:spPr>
          <a:xfrm>
            <a:off x="409575" y="1461076"/>
            <a:ext cx="2857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부가 내용을 입력해 주세요</a:t>
            </a:r>
            <a:r>
              <a:rPr lang="en-US" altLang="ko-KR" sz="14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(14P)</a:t>
            </a:r>
            <a:endParaRPr lang="ko-KR" altLang="en-US" sz="1400" dirty="0">
              <a:solidFill>
                <a:srgbClr val="313844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E8CDD684-A171-4184-A9C7-9921778FBC43}"/>
              </a:ext>
            </a:extLst>
          </p:cNvPr>
          <p:cNvSpPr/>
          <p:nvPr userDrawn="1"/>
        </p:nvSpPr>
        <p:spPr>
          <a:xfrm>
            <a:off x="1943099" y="2549365"/>
            <a:ext cx="1552576" cy="1552576"/>
          </a:xfrm>
          <a:custGeom>
            <a:avLst/>
            <a:gdLst>
              <a:gd name="connsiteX0" fmla="*/ 1047750 w 2095500"/>
              <a:gd name="connsiteY0" fmla="*/ 185737 h 2095500"/>
              <a:gd name="connsiteX1" fmla="*/ 185737 w 2095500"/>
              <a:gd name="connsiteY1" fmla="*/ 1047750 h 2095500"/>
              <a:gd name="connsiteX2" fmla="*/ 1047750 w 2095500"/>
              <a:gd name="connsiteY2" fmla="*/ 1909763 h 2095500"/>
              <a:gd name="connsiteX3" fmla="*/ 1909763 w 2095500"/>
              <a:gd name="connsiteY3" fmla="*/ 1047750 h 2095500"/>
              <a:gd name="connsiteX4" fmla="*/ 1047750 w 2095500"/>
              <a:gd name="connsiteY4" fmla="*/ 185737 h 2095500"/>
              <a:gd name="connsiteX5" fmla="*/ 1047750 w 2095500"/>
              <a:gd name="connsiteY5" fmla="*/ 0 h 2095500"/>
              <a:gd name="connsiteX6" fmla="*/ 2095500 w 2095500"/>
              <a:gd name="connsiteY6" fmla="*/ 1047750 h 2095500"/>
              <a:gd name="connsiteX7" fmla="*/ 1047750 w 2095500"/>
              <a:gd name="connsiteY7" fmla="*/ 2095500 h 2095500"/>
              <a:gd name="connsiteX8" fmla="*/ 0 w 2095500"/>
              <a:gd name="connsiteY8" fmla="*/ 1047750 h 2095500"/>
              <a:gd name="connsiteX9" fmla="*/ 1047750 w 2095500"/>
              <a:gd name="connsiteY9" fmla="*/ 0 h 209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95500" h="2095500">
                <a:moveTo>
                  <a:pt x="1047750" y="185737"/>
                </a:moveTo>
                <a:cubicBezTo>
                  <a:pt x="571673" y="185737"/>
                  <a:pt x="185737" y="571673"/>
                  <a:pt x="185737" y="1047750"/>
                </a:cubicBezTo>
                <a:cubicBezTo>
                  <a:pt x="185737" y="1523827"/>
                  <a:pt x="571673" y="1909763"/>
                  <a:pt x="1047750" y="1909763"/>
                </a:cubicBezTo>
                <a:cubicBezTo>
                  <a:pt x="1523827" y="1909763"/>
                  <a:pt x="1909763" y="1523827"/>
                  <a:pt x="1909763" y="1047750"/>
                </a:cubicBezTo>
                <a:cubicBezTo>
                  <a:pt x="1909763" y="571673"/>
                  <a:pt x="1523827" y="185737"/>
                  <a:pt x="1047750" y="185737"/>
                </a:cubicBezTo>
                <a:close/>
                <a:moveTo>
                  <a:pt x="1047750" y="0"/>
                </a:moveTo>
                <a:cubicBezTo>
                  <a:pt x="1626406" y="0"/>
                  <a:pt x="2095500" y="469094"/>
                  <a:pt x="2095500" y="1047750"/>
                </a:cubicBezTo>
                <a:cubicBezTo>
                  <a:pt x="2095500" y="1626406"/>
                  <a:pt x="1626406" y="2095500"/>
                  <a:pt x="1047750" y="2095500"/>
                </a:cubicBezTo>
                <a:cubicBezTo>
                  <a:pt x="469094" y="2095500"/>
                  <a:pt x="0" y="1626406"/>
                  <a:pt x="0" y="1047750"/>
                </a:cubicBezTo>
                <a:cubicBezTo>
                  <a:pt x="0" y="469094"/>
                  <a:pt x="469094" y="0"/>
                  <a:pt x="1047750" y="0"/>
                </a:cubicBezTo>
                <a:close/>
              </a:path>
            </a:pathLst>
          </a:custGeom>
          <a:solidFill>
            <a:srgbClr val="E5B7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809D519B-25CA-4DD8-94ED-6D24C01AAC4B}"/>
              </a:ext>
            </a:extLst>
          </p:cNvPr>
          <p:cNvSpPr/>
          <p:nvPr userDrawn="1"/>
        </p:nvSpPr>
        <p:spPr>
          <a:xfrm>
            <a:off x="4086226" y="2549365"/>
            <a:ext cx="1552576" cy="1552576"/>
          </a:xfrm>
          <a:custGeom>
            <a:avLst/>
            <a:gdLst>
              <a:gd name="connsiteX0" fmla="*/ 1047750 w 2095500"/>
              <a:gd name="connsiteY0" fmla="*/ 185737 h 2095500"/>
              <a:gd name="connsiteX1" fmla="*/ 185737 w 2095500"/>
              <a:gd name="connsiteY1" fmla="*/ 1047750 h 2095500"/>
              <a:gd name="connsiteX2" fmla="*/ 1047750 w 2095500"/>
              <a:gd name="connsiteY2" fmla="*/ 1909763 h 2095500"/>
              <a:gd name="connsiteX3" fmla="*/ 1909763 w 2095500"/>
              <a:gd name="connsiteY3" fmla="*/ 1047750 h 2095500"/>
              <a:gd name="connsiteX4" fmla="*/ 1047750 w 2095500"/>
              <a:gd name="connsiteY4" fmla="*/ 185737 h 2095500"/>
              <a:gd name="connsiteX5" fmla="*/ 1047750 w 2095500"/>
              <a:gd name="connsiteY5" fmla="*/ 0 h 2095500"/>
              <a:gd name="connsiteX6" fmla="*/ 2095500 w 2095500"/>
              <a:gd name="connsiteY6" fmla="*/ 1047750 h 2095500"/>
              <a:gd name="connsiteX7" fmla="*/ 1047750 w 2095500"/>
              <a:gd name="connsiteY7" fmla="*/ 2095500 h 2095500"/>
              <a:gd name="connsiteX8" fmla="*/ 0 w 2095500"/>
              <a:gd name="connsiteY8" fmla="*/ 1047750 h 2095500"/>
              <a:gd name="connsiteX9" fmla="*/ 1047750 w 2095500"/>
              <a:gd name="connsiteY9" fmla="*/ 0 h 209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95500" h="2095500">
                <a:moveTo>
                  <a:pt x="1047750" y="185737"/>
                </a:moveTo>
                <a:cubicBezTo>
                  <a:pt x="571673" y="185737"/>
                  <a:pt x="185737" y="571673"/>
                  <a:pt x="185737" y="1047750"/>
                </a:cubicBezTo>
                <a:cubicBezTo>
                  <a:pt x="185737" y="1523827"/>
                  <a:pt x="571673" y="1909763"/>
                  <a:pt x="1047750" y="1909763"/>
                </a:cubicBezTo>
                <a:cubicBezTo>
                  <a:pt x="1523827" y="1909763"/>
                  <a:pt x="1909763" y="1523827"/>
                  <a:pt x="1909763" y="1047750"/>
                </a:cubicBezTo>
                <a:cubicBezTo>
                  <a:pt x="1909763" y="571673"/>
                  <a:pt x="1523827" y="185737"/>
                  <a:pt x="1047750" y="185737"/>
                </a:cubicBezTo>
                <a:close/>
                <a:moveTo>
                  <a:pt x="1047750" y="0"/>
                </a:moveTo>
                <a:cubicBezTo>
                  <a:pt x="1626406" y="0"/>
                  <a:pt x="2095500" y="469094"/>
                  <a:pt x="2095500" y="1047750"/>
                </a:cubicBezTo>
                <a:cubicBezTo>
                  <a:pt x="2095500" y="1626406"/>
                  <a:pt x="1626406" y="2095500"/>
                  <a:pt x="1047750" y="2095500"/>
                </a:cubicBezTo>
                <a:cubicBezTo>
                  <a:pt x="469094" y="2095500"/>
                  <a:pt x="0" y="1626406"/>
                  <a:pt x="0" y="1047750"/>
                </a:cubicBezTo>
                <a:cubicBezTo>
                  <a:pt x="0" y="469094"/>
                  <a:pt x="469094" y="0"/>
                  <a:pt x="1047750" y="0"/>
                </a:cubicBezTo>
                <a:close/>
              </a:path>
            </a:pathLst>
          </a:custGeom>
          <a:solidFill>
            <a:srgbClr val="DEA2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8DB6502B-065C-4160-A24A-AC35F1702879}"/>
              </a:ext>
            </a:extLst>
          </p:cNvPr>
          <p:cNvSpPr/>
          <p:nvPr userDrawn="1"/>
        </p:nvSpPr>
        <p:spPr>
          <a:xfrm>
            <a:off x="8372480" y="2549365"/>
            <a:ext cx="1552576" cy="1552576"/>
          </a:xfrm>
          <a:custGeom>
            <a:avLst/>
            <a:gdLst>
              <a:gd name="connsiteX0" fmla="*/ 1047750 w 2095500"/>
              <a:gd name="connsiteY0" fmla="*/ 185737 h 2095500"/>
              <a:gd name="connsiteX1" fmla="*/ 185737 w 2095500"/>
              <a:gd name="connsiteY1" fmla="*/ 1047750 h 2095500"/>
              <a:gd name="connsiteX2" fmla="*/ 1047750 w 2095500"/>
              <a:gd name="connsiteY2" fmla="*/ 1909763 h 2095500"/>
              <a:gd name="connsiteX3" fmla="*/ 1909763 w 2095500"/>
              <a:gd name="connsiteY3" fmla="*/ 1047750 h 2095500"/>
              <a:gd name="connsiteX4" fmla="*/ 1047750 w 2095500"/>
              <a:gd name="connsiteY4" fmla="*/ 185737 h 2095500"/>
              <a:gd name="connsiteX5" fmla="*/ 1047750 w 2095500"/>
              <a:gd name="connsiteY5" fmla="*/ 0 h 2095500"/>
              <a:gd name="connsiteX6" fmla="*/ 2095500 w 2095500"/>
              <a:gd name="connsiteY6" fmla="*/ 1047750 h 2095500"/>
              <a:gd name="connsiteX7" fmla="*/ 1047750 w 2095500"/>
              <a:gd name="connsiteY7" fmla="*/ 2095500 h 2095500"/>
              <a:gd name="connsiteX8" fmla="*/ 0 w 2095500"/>
              <a:gd name="connsiteY8" fmla="*/ 1047750 h 2095500"/>
              <a:gd name="connsiteX9" fmla="*/ 1047750 w 2095500"/>
              <a:gd name="connsiteY9" fmla="*/ 0 h 209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95500" h="2095500">
                <a:moveTo>
                  <a:pt x="1047750" y="185737"/>
                </a:moveTo>
                <a:cubicBezTo>
                  <a:pt x="571673" y="185737"/>
                  <a:pt x="185737" y="571673"/>
                  <a:pt x="185737" y="1047750"/>
                </a:cubicBezTo>
                <a:cubicBezTo>
                  <a:pt x="185737" y="1523827"/>
                  <a:pt x="571673" y="1909763"/>
                  <a:pt x="1047750" y="1909763"/>
                </a:cubicBezTo>
                <a:cubicBezTo>
                  <a:pt x="1523827" y="1909763"/>
                  <a:pt x="1909763" y="1523827"/>
                  <a:pt x="1909763" y="1047750"/>
                </a:cubicBezTo>
                <a:cubicBezTo>
                  <a:pt x="1909763" y="571673"/>
                  <a:pt x="1523827" y="185737"/>
                  <a:pt x="1047750" y="185737"/>
                </a:cubicBezTo>
                <a:close/>
                <a:moveTo>
                  <a:pt x="1047750" y="0"/>
                </a:moveTo>
                <a:cubicBezTo>
                  <a:pt x="1626406" y="0"/>
                  <a:pt x="2095500" y="469094"/>
                  <a:pt x="2095500" y="1047750"/>
                </a:cubicBezTo>
                <a:cubicBezTo>
                  <a:pt x="2095500" y="1626406"/>
                  <a:pt x="1626406" y="2095500"/>
                  <a:pt x="1047750" y="2095500"/>
                </a:cubicBezTo>
                <a:cubicBezTo>
                  <a:pt x="469094" y="2095500"/>
                  <a:pt x="0" y="1626406"/>
                  <a:pt x="0" y="1047750"/>
                </a:cubicBezTo>
                <a:cubicBezTo>
                  <a:pt x="0" y="469094"/>
                  <a:pt x="469094" y="0"/>
                  <a:pt x="1047750" y="0"/>
                </a:cubicBezTo>
                <a:close/>
              </a:path>
            </a:pathLst>
          </a:custGeom>
          <a:solidFill>
            <a:srgbClr val="D38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9AF37ECC-4F18-48C7-857C-19C8699623B0}"/>
              </a:ext>
            </a:extLst>
          </p:cNvPr>
          <p:cNvSpPr/>
          <p:nvPr userDrawn="1"/>
        </p:nvSpPr>
        <p:spPr>
          <a:xfrm>
            <a:off x="6229353" y="2549365"/>
            <a:ext cx="1552576" cy="1552576"/>
          </a:xfrm>
          <a:custGeom>
            <a:avLst/>
            <a:gdLst>
              <a:gd name="connsiteX0" fmla="*/ 1047750 w 2095500"/>
              <a:gd name="connsiteY0" fmla="*/ 185737 h 2095500"/>
              <a:gd name="connsiteX1" fmla="*/ 185737 w 2095500"/>
              <a:gd name="connsiteY1" fmla="*/ 1047750 h 2095500"/>
              <a:gd name="connsiteX2" fmla="*/ 1047750 w 2095500"/>
              <a:gd name="connsiteY2" fmla="*/ 1909763 h 2095500"/>
              <a:gd name="connsiteX3" fmla="*/ 1909763 w 2095500"/>
              <a:gd name="connsiteY3" fmla="*/ 1047750 h 2095500"/>
              <a:gd name="connsiteX4" fmla="*/ 1047750 w 2095500"/>
              <a:gd name="connsiteY4" fmla="*/ 185737 h 2095500"/>
              <a:gd name="connsiteX5" fmla="*/ 1047750 w 2095500"/>
              <a:gd name="connsiteY5" fmla="*/ 0 h 2095500"/>
              <a:gd name="connsiteX6" fmla="*/ 2095500 w 2095500"/>
              <a:gd name="connsiteY6" fmla="*/ 1047750 h 2095500"/>
              <a:gd name="connsiteX7" fmla="*/ 1047750 w 2095500"/>
              <a:gd name="connsiteY7" fmla="*/ 2095500 h 2095500"/>
              <a:gd name="connsiteX8" fmla="*/ 0 w 2095500"/>
              <a:gd name="connsiteY8" fmla="*/ 1047750 h 2095500"/>
              <a:gd name="connsiteX9" fmla="*/ 1047750 w 2095500"/>
              <a:gd name="connsiteY9" fmla="*/ 0 h 209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95500" h="2095500">
                <a:moveTo>
                  <a:pt x="1047750" y="185737"/>
                </a:moveTo>
                <a:cubicBezTo>
                  <a:pt x="571673" y="185737"/>
                  <a:pt x="185737" y="571673"/>
                  <a:pt x="185737" y="1047750"/>
                </a:cubicBezTo>
                <a:cubicBezTo>
                  <a:pt x="185737" y="1523827"/>
                  <a:pt x="571673" y="1909763"/>
                  <a:pt x="1047750" y="1909763"/>
                </a:cubicBezTo>
                <a:cubicBezTo>
                  <a:pt x="1523827" y="1909763"/>
                  <a:pt x="1909763" y="1523827"/>
                  <a:pt x="1909763" y="1047750"/>
                </a:cubicBezTo>
                <a:cubicBezTo>
                  <a:pt x="1909763" y="571673"/>
                  <a:pt x="1523827" y="185737"/>
                  <a:pt x="1047750" y="185737"/>
                </a:cubicBezTo>
                <a:close/>
                <a:moveTo>
                  <a:pt x="1047750" y="0"/>
                </a:moveTo>
                <a:cubicBezTo>
                  <a:pt x="1626406" y="0"/>
                  <a:pt x="2095500" y="469094"/>
                  <a:pt x="2095500" y="1047750"/>
                </a:cubicBezTo>
                <a:cubicBezTo>
                  <a:pt x="2095500" y="1626406"/>
                  <a:pt x="1626406" y="2095500"/>
                  <a:pt x="1047750" y="2095500"/>
                </a:cubicBezTo>
                <a:cubicBezTo>
                  <a:pt x="469094" y="2095500"/>
                  <a:pt x="0" y="1626406"/>
                  <a:pt x="0" y="1047750"/>
                </a:cubicBezTo>
                <a:cubicBezTo>
                  <a:pt x="0" y="469094"/>
                  <a:pt x="469094" y="0"/>
                  <a:pt x="1047750" y="0"/>
                </a:cubicBezTo>
                <a:close/>
              </a:path>
            </a:pathLst>
          </a:custGeom>
          <a:solidFill>
            <a:srgbClr val="CAA0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B1ADCF-2F6D-42C5-9797-A333034A1DFA}"/>
              </a:ext>
            </a:extLst>
          </p:cNvPr>
          <p:cNvSpPr txBox="1"/>
          <p:nvPr userDrawn="1"/>
        </p:nvSpPr>
        <p:spPr>
          <a:xfrm>
            <a:off x="1890712" y="4280416"/>
            <a:ext cx="1657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설명을 입력해 주세요</a:t>
            </a:r>
            <a:r>
              <a:rPr lang="en-US" altLang="ko-KR" sz="14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en-US" sz="1400" dirty="0">
              <a:solidFill>
                <a:srgbClr val="313844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D01B8C-0253-42BE-B459-CD7DA4984D6C}"/>
              </a:ext>
            </a:extLst>
          </p:cNvPr>
          <p:cNvSpPr txBox="1"/>
          <p:nvPr userDrawn="1"/>
        </p:nvSpPr>
        <p:spPr>
          <a:xfrm>
            <a:off x="4033839" y="4280416"/>
            <a:ext cx="1657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설명을 입력해 주세요</a:t>
            </a:r>
            <a:r>
              <a:rPr lang="en-US" altLang="ko-KR" sz="14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en-US" sz="1400" dirty="0">
              <a:solidFill>
                <a:srgbClr val="313844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C7A3FE-BC70-4CF9-B75E-CC8E63E091C9}"/>
              </a:ext>
            </a:extLst>
          </p:cNvPr>
          <p:cNvSpPr txBox="1"/>
          <p:nvPr userDrawn="1"/>
        </p:nvSpPr>
        <p:spPr>
          <a:xfrm>
            <a:off x="6176965" y="4280416"/>
            <a:ext cx="1657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설명을 입력해 주세요</a:t>
            </a:r>
            <a:r>
              <a:rPr lang="en-US" altLang="ko-KR" sz="14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en-US" sz="1400" dirty="0">
              <a:solidFill>
                <a:srgbClr val="313844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B31BB4-1A28-4876-8B7A-518F50D3CE52}"/>
              </a:ext>
            </a:extLst>
          </p:cNvPr>
          <p:cNvSpPr txBox="1"/>
          <p:nvPr userDrawn="1"/>
        </p:nvSpPr>
        <p:spPr>
          <a:xfrm>
            <a:off x="8320093" y="4280416"/>
            <a:ext cx="1657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설명을 입력해 주세요</a:t>
            </a:r>
            <a:r>
              <a:rPr lang="en-US" altLang="ko-KR" sz="14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en-US" sz="1400" dirty="0">
              <a:solidFill>
                <a:srgbClr val="313844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B44375-9B1D-45E1-BC99-85A913290D78}"/>
              </a:ext>
            </a:extLst>
          </p:cNvPr>
          <p:cNvSpPr txBox="1"/>
          <p:nvPr userDrawn="1"/>
        </p:nvSpPr>
        <p:spPr>
          <a:xfrm>
            <a:off x="1719262" y="4588193"/>
            <a:ext cx="2000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상세 내용을 입력해 주세요</a:t>
            </a:r>
            <a:r>
              <a:rPr lang="en-US" altLang="ko-KR" sz="12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en-US" sz="1200" dirty="0">
              <a:solidFill>
                <a:srgbClr val="313844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7B4D2D-E855-4A3B-B59B-DBC9396508AC}"/>
              </a:ext>
            </a:extLst>
          </p:cNvPr>
          <p:cNvSpPr txBox="1"/>
          <p:nvPr userDrawn="1"/>
        </p:nvSpPr>
        <p:spPr>
          <a:xfrm>
            <a:off x="3862389" y="4588193"/>
            <a:ext cx="2000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상세 내용을 입력해 주세요</a:t>
            </a:r>
            <a:r>
              <a:rPr lang="en-US" altLang="ko-KR" sz="12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en-US" sz="1200" dirty="0">
              <a:solidFill>
                <a:srgbClr val="313844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CC2B1A-22A6-4B4D-9504-2BB803C91AD1}"/>
              </a:ext>
            </a:extLst>
          </p:cNvPr>
          <p:cNvSpPr txBox="1"/>
          <p:nvPr userDrawn="1"/>
        </p:nvSpPr>
        <p:spPr>
          <a:xfrm>
            <a:off x="6005515" y="4588193"/>
            <a:ext cx="2000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상세 내용을 입력해 주세요</a:t>
            </a:r>
            <a:r>
              <a:rPr lang="en-US" altLang="ko-KR" sz="12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en-US" sz="1200" dirty="0">
              <a:solidFill>
                <a:srgbClr val="313844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E02A21-6AEF-4695-A5C1-31A186EDF0FC}"/>
              </a:ext>
            </a:extLst>
          </p:cNvPr>
          <p:cNvSpPr txBox="1"/>
          <p:nvPr userDrawn="1"/>
        </p:nvSpPr>
        <p:spPr>
          <a:xfrm>
            <a:off x="8148641" y="4588193"/>
            <a:ext cx="2000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상세 내용을 입력해 주세요</a:t>
            </a:r>
            <a:r>
              <a:rPr lang="en-US" altLang="ko-KR" sz="12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en-US" sz="1200" dirty="0">
              <a:solidFill>
                <a:srgbClr val="313844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0701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bg>
      <p:bgPr>
        <a:gradFill>
          <a:gsLst>
            <a:gs pos="0">
              <a:srgbClr val="5392B3"/>
            </a:gs>
            <a:gs pos="42000">
              <a:srgbClr val="5392B3"/>
            </a:gs>
            <a:gs pos="83000">
              <a:srgbClr val="BAD3E0"/>
            </a:gs>
            <a:gs pos="100000">
              <a:srgbClr val="BAD3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033F8CE7-CA01-4EC6-8462-A2E80826D917}"/>
              </a:ext>
            </a:extLst>
          </p:cNvPr>
          <p:cNvSpPr/>
          <p:nvPr userDrawn="1"/>
        </p:nvSpPr>
        <p:spPr>
          <a:xfrm>
            <a:off x="142875" y="142875"/>
            <a:ext cx="11906250" cy="657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화살표: 오각형 23">
            <a:extLst>
              <a:ext uri="{FF2B5EF4-FFF2-40B4-BE49-F238E27FC236}">
                <a16:creationId xmlns:a16="http://schemas.microsoft.com/office/drawing/2014/main" id="{92227618-F0F0-490A-8C71-0F4BFBE435FC}"/>
              </a:ext>
            </a:extLst>
          </p:cNvPr>
          <p:cNvSpPr/>
          <p:nvPr userDrawn="1"/>
        </p:nvSpPr>
        <p:spPr>
          <a:xfrm>
            <a:off x="142874" y="361950"/>
            <a:ext cx="2857501" cy="504825"/>
          </a:xfrm>
          <a:prstGeom prst="homePlate">
            <a:avLst/>
          </a:prstGeom>
          <a:solidFill>
            <a:srgbClr val="539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2.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제목을 입력하세요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.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" panose="020B0600000101010101" pitchFamily="50" charset="-127"/>
              <a:ea typeface="나눔스퀘어_ac" panose="020B0600000101010101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388225-F5DA-45BF-A4E8-4706D19418D2}"/>
              </a:ext>
            </a:extLst>
          </p:cNvPr>
          <p:cNvSpPr txBox="1"/>
          <p:nvPr userDrawn="1"/>
        </p:nvSpPr>
        <p:spPr>
          <a:xfrm>
            <a:off x="409575" y="1085850"/>
            <a:ext cx="3790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13844"/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핵심 문구를 입력해 주세요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313844"/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. (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13844"/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굵게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313844"/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/18P)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13844"/>
              </a:solidFill>
              <a:effectLst/>
              <a:uLnTx/>
              <a:uFillTx/>
              <a:latin typeface="나눔스퀘어_ac" panose="020B0600000101010101" pitchFamily="50" charset="-127"/>
              <a:ea typeface="나눔스퀘어_ac" panose="020B0600000101010101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C9E9D3-8C69-4CA7-8CBB-197E6E89CA3B}"/>
              </a:ext>
            </a:extLst>
          </p:cNvPr>
          <p:cNvSpPr txBox="1"/>
          <p:nvPr userDrawn="1"/>
        </p:nvSpPr>
        <p:spPr>
          <a:xfrm>
            <a:off x="409575" y="1461076"/>
            <a:ext cx="2857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13844"/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부가 내용을 입력해 주세요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313844"/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. (14P)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13844"/>
              </a:solidFill>
              <a:effectLst/>
              <a:uLnTx/>
              <a:uFillTx/>
              <a:latin typeface="나눔스퀘어_ac" panose="020B0600000101010101" pitchFamily="50" charset="-127"/>
              <a:ea typeface="나눔스퀘어_ac" panose="020B0600000101010101" pitchFamily="50" charset="-127"/>
              <a:cs typeface="+mn-cs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A9C3AF6-71A4-4EC0-8FFA-E4A699F586DF}"/>
              </a:ext>
            </a:extLst>
          </p:cNvPr>
          <p:cNvCxnSpPr>
            <a:cxnSpLocks/>
            <a:stCxn id="28" idx="2"/>
            <a:endCxn id="32" idx="6"/>
          </p:cNvCxnSpPr>
          <p:nvPr userDrawn="1"/>
        </p:nvCxnSpPr>
        <p:spPr>
          <a:xfrm>
            <a:off x="1731168" y="3573539"/>
            <a:ext cx="8222457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>
            <a:extLst>
              <a:ext uri="{FF2B5EF4-FFF2-40B4-BE49-F238E27FC236}">
                <a16:creationId xmlns:a16="http://schemas.microsoft.com/office/drawing/2014/main" id="{52759FE0-2C65-40A9-9FC3-A50D0C854BB7}"/>
              </a:ext>
            </a:extLst>
          </p:cNvPr>
          <p:cNvSpPr/>
          <p:nvPr userDrawn="1"/>
        </p:nvSpPr>
        <p:spPr>
          <a:xfrm>
            <a:off x="1731168" y="3530081"/>
            <a:ext cx="86916" cy="8691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80B5438-B03D-4C28-B4E1-541C1298476E}"/>
              </a:ext>
            </a:extLst>
          </p:cNvPr>
          <p:cNvSpPr/>
          <p:nvPr userDrawn="1"/>
        </p:nvSpPr>
        <p:spPr>
          <a:xfrm>
            <a:off x="3802856" y="3530081"/>
            <a:ext cx="86916" cy="8691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FBB12B84-D7B3-4B02-BE60-A421542E0806}"/>
              </a:ext>
            </a:extLst>
          </p:cNvPr>
          <p:cNvSpPr/>
          <p:nvPr userDrawn="1"/>
        </p:nvSpPr>
        <p:spPr>
          <a:xfrm>
            <a:off x="5874544" y="3530081"/>
            <a:ext cx="86916" cy="8691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911A440-E319-4AC4-86FB-5C8EC3CD2964}"/>
              </a:ext>
            </a:extLst>
          </p:cNvPr>
          <p:cNvSpPr/>
          <p:nvPr userDrawn="1"/>
        </p:nvSpPr>
        <p:spPr>
          <a:xfrm>
            <a:off x="7946232" y="3530081"/>
            <a:ext cx="86916" cy="8691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BA569459-44EA-4B29-899E-6C67A276629B}"/>
              </a:ext>
            </a:extLst>
          </p:cNvPr>
          <p:cNvSpPr/>
          <p:nvPr userDrawn="1"/>
        </p:nvSpPr>
        <p:spPr>
          <a:xfrm>
            <a:off x="9866709" y="3530081"/>
            <a:ext cx="86916" cy="8691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601B18-9458-45F4-8157-FED340F9841F}"/>
              </a:ext>
            </a:extLst>
          </p:cNvPr>
          <p:cNvSpPr txBox="1"/>
          <p:nvPr userDrawn="1"/>
        </p:nvSpPr>
        <p:spPr>
          <a:xfrm>
            <a:off x="1854100" y="2998069"/>
            <a:ext cx="885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쿠팡 창립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7462A3-164E-4708-9C49-10D42C374AF0}"/>
              </a:ext>
            </a:extLst>
          </p:cNvPr>
          <p:cNvSpPr txBox="1"/>
          <p:nvPr userDrawn="1"/>
        </p:nvSpPr>
        <p:spPr>
          <a:xfrm>
            <a:off x="1570433" y="2891249"/>
            <a:ext cx="3583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rgbClr val="E5B79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</a:t>
            </a:r>
            <a:endParaRPr lang="ko-KR" altLang="en-US" sz="4000" b="1" dirty="0">
              <a:solidFill>
                <a:srgbClr val="E5B79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E37C6F-72F8-443A-958C-1B4B23B46BED}"/>
              </a:ext>
            </a:extLst>
          </p:cNvPr>
          <p:cNvSpPr txBox="1"/>
          <p:nvPr userDrawn="1"/>
        </p:nvSpPr>
        <p:spPr>
          <a:xfrm>
            <a:off x="3953917" y="3706771"/>
            <a:ext cx="1370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로켓배송 시작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B3A01F-12B9-4D79-AB0A-36270B84E832}"/>
              </a:ext>
            </a:extLst>
          </p:cNvPr>
          <p:cNvSpPr txBox="1"/>
          <p:nvPr userDrawn="1"/>
        </p:nvSpPr>
        <p:spPr>
          <a:xfrm>
            <a:off x="5780181" y="2865653"/>
            <a:ext cx="3583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rgbClr val="E5B79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</a:t>
            </a:r>
            <a:endParaRPr lang="ko-KR" altLang="en-US" sz="4000" b="1" dirty="0">
              <a:solidFill>
                <a:srgbClr val="E5B79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1773D1-F5CC-4BB3-A95D-208F63966E66}"/>
              </a:ext>
            </a:extLst>
          </p:cNvPr>
          <p:cNvSpPr txBox="1"/>
          <p:nvPr userDrawn="1"/>
        </p:nvSpPr>
        <p:spPr>
          <a:xfrm>
            <a:off x="3664745" y="3616997"/>
            <a:ext cx="3583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rgbClr val="E5B79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</a:t>
            </a:r>
            <a:endParaRPr lang="ko-KR" altLang="en-US" sz="4000" b="1" dirty="0">
              <a:solidFill>
                <a:srgbClr val="E5B79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0FE6CC-9A8E-41E6-A7C9-A8A78E431233}"/>
              </a:ext>
            </a:extLst>
          </p:cNvPr>
          <p:cNvSpPr txBox="1"/>
          <p:nvPr userDrawn="1"/>
        </p:nvSpPr>
        <p:spPr>
          <a:xfrm>
            <a:off x="7808121" y="3595149"/>
            <a:ext cx="3583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rgbClr val="E5B79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4</a:t>
            </a:r>
            <a:endParaRPr lang="ko-KR" altLang="en-US" sz="4000" b="1" dirty="0">
              <a:solidFill>
                <a:srgbClr val="E5B79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B9D8A7-5AD2-464C-94A5-D557170340C0}"/>
              </a:ext>
            </a:extLst>
          </p:cNvPr>
          <p:cNvSpPr txBox="1"/>
          <p:nvPr userDrawn="1"/>
        </p:nvSpPr>
        <p:spPr>
          <a:xfrm>
            <a:off x="9689901" y="2887263"/>
            <a:ext cx="3583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rgbClr val="E5B79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</a:t>
            </a:r>
            <a:endParaRPr lang="ko-KR" altLang="en-US" sz="4000" b="1" dirty="0">
              <a:solidFill>
                <a:srgbClr val="E5B79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C2F0AF-E9CC-4F07-9E60-41F5CA70B1E4}"/>
              </a:ext>
            </a:extLst>
          </p:cNvPr>
          <p:cNvSpPr txBox="1"/>
          <p:nvPr userDrawn="1"/>
        </p:nvSpPr>
        <p:spPr>
          <a:xfrm>
            <a:off x="1854100" y="3231796"/>
            <a:ext cx="17183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2010</a:t>
            </a:r>
            <a:r>
              <a:rPr lang="ko-KR" altLang="en-US" sz="12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년 쿠팡 창립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DDCB08-FE2D-46A0-A746-761396E7E03A}"/>
              </a:ext>
            </a:extLst>
          </p:cNvPr>
          <p:cNvSpPr txBox="1"/>
          <p:nvPr userDrawn="1"/>
        </p:nvSpPr>
        <p:spPr>
          <a:xfrm>
            <a:off x="3953917" y="3938397"/>
            <a:ext cx="17183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2014</a:t>
            </a:r>
            <a:r>
              <a:rPr lang="ko-KR" altLang="en-US" sz="12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년 로켓배송 도입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90191E-FBA2-4958-97FB-3A47A6F5EA83}"/>
              </a:ext>
            </a:extLst>
          </p:cNvPr>
          <p:cNvSpPr txBox="1"/>
          <p:nvPr userDrawn="1"/>
        </p:nvSpPr>
        <p:spPr>
          <a:xfrm>
            <a:off x="8086876" y="3706771"/>
            <a:ext cx="1370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로켓와우 멤버십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BC2E01-792A-4CED-BE09-6D950C932E03}"/>
              </a:ext>
            </a:extLst>
          </p:cNvPr>
          <p:cNvSpPr txBox="1"/>
          <p:nvPr userDrawn="1"/>
        </p:nvSpPr>
        <p:spPr>
          <a:xfrm>
            <a:off x="8086876" y="3938397"/>
            <a:ext cx="17183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2019</a:t>
            </a:r>
            <a:r>
              <a:rPr lang="ko-KR" altLang="en-US" sz="12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년 로켓와우 멤버십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E4983D-5651-472E-B096-5C34D3934B08}"/>
              </a:ext>
            </a:extLst>
          </p:cNvPr>
          <p:cNvSpPr txBox="1"/>
          <p:nvPr userDrawn="1"/>
        </p:nvSpPr>
        <p:spPr>
          <a:xfrm>
            <a:off x="6053431" y="3002407"/>
            <a:ext cx="1370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로켓직구 시작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58AD60-C449-4163-931F-D1204E8EC279}"/>
              </a:ext>
            </a:extLst>
          </p:cNvPr>
          <p:cNvSpPr txBox="1"/>
          <p:nvPr userDrawn="1"/>
        </p:nvSpPr>
        <p:spPr>
          <a:xfrm>
            <a:off x="6053431" y="3234033"/>
            <a:ext cx="17183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2017</a:t>
            </a:r>
            <a:r>
              <a:rPr lang="ko-KR" altLang="en-US" sz="12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년 직구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DB8E2A-0638-4502-9378-3088C044ED81}"/>
              </a:ext>
            </a:extLst>
          </p:cNvPr>
          <p:cNvSpPr txBox="1"/>
          <p:nvPr userDrawn="1"/>
        </p:nvSpPr>
        <p:spPr>
          <a:xfrm>
            <a:off x="9953625" y="2998069"/>
            <a:ext cx="1370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쿠팡플레이 런칭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A7C8486-8470-4822-873D-E7AB72B1B663}"/>
              </a:ext>
            </a:extLst>
          </p:cNvPr>
          <p:cNvSpPr txBox="1"/>
          <p:nvPr userDrawn="1"/>
        </p:nvSpPr>
        <p:spPr>
          <a:xfrm>
            <a:off x="9953625" y="3229695"/>
            <a:ext cx="17183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2020</a:t>
            </a:r>
            <a:r>
              <a:rPr lang="ko-KR" altLang="en-US" sz="1200" dirty="0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년 쿠팡플레이</a:t>
            </a:r>
          </a:p>
        </p:txBody>
      </p:sp>
    </p:spTree>
    <p:extLst>
      <p:ext uri="{BB962C8B-B14F-4D97-AF65-F5344CB8AC3E}">
        <p14:creationId xmlns:p14="http://schemas.microsoft.com/office/powerpoint/2010/main" val="3598689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bg>
      <p:bgPr>
        <a:gradFill>
          <a:gsLst>
            <a:gs pos="0">
              <a:srgbClr val="5392B3"/>
            </a:gs>
            <a:gs pos="42000">
              <a:srgbClr val="5392B3"/>
            </a:gs>
            <a:gs pos="83000">
              <a:srgbClr val="BAD3E0"/>
            </a:gs>
            <a:gs pos="100000">
              <a:srgbClr val="BAD3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277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FC336B2-6035-401F-8671-75F4A8FFE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9F1F4C-B061-4BE9-96AC-82A629328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CEAFCD-EB14-40FF-91E8-DA9EF706B3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125F62-8EE8-4D76-A504-C707C8AB749D}" type="datetimeFigureOut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442923-EDA2-4ED2-973F-E753E40BB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6160F1-EF11-4DFC-B7B2-9866B4A02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5CCC1-B2E9-40A9-AEDD-D668229A4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481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4" r:id="rId3"/>
    <p:sldLayoutId id="2147483665" r:id="rId4"/>
    <p:sldLayoutId id="2147483663" r:id="rId5"/>
    <p:sldLayoutId id="2147483650" r:id="rId6"/>
    <p:sldLayoutId id="2147483661" r:id="rId7"/>
    <p:sldLayoutId id="2147483662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upang.sharepoint.com/:f:/r/sites/Internal_CSTraining/DocLib/008%20ZENO%20%C2%B7%20%EC%A0%9C%EB%85%B8/Zendesk%20Macro%20Downloader%20V1.0?csf=1&amp;web=1&amp;e=DyMm4e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8F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DB678271-51D6-4324-ABCA-8849EE3BC672}"/>
              </a:ext>
            </a:extLst>
          </p:cNvPr>
          <p:cNvSpPr/>
          <p:nvPr/>
        </p:nvSpPr>
        <p:spPr>
          <a:xfrm>
            <a:off x="1776586" y="1834459"/>
            <a:ext cx="8638828" cy="31890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>
                <a:solidFill>
                  <a:srgbClr val="4E8FB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Zendesk Macro List Downloader V1.0 Application User Manual</a:t>
            </a:r>
            <a:endParaRPr lang="ko-KR" altLang="en-US" sz="3600" dirty="0">
              <a:solidFill>
                <a:srgbClr val="4E8FB0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B7DF2A-0958-4724-873A-8E827FE7259F}"/>
              </a:ext>
            </a:extLst>
          </p:cNvPr>
          <p:cNvSpPr txBox="1"/>
          <p:nvPr/>
        </p:nvSpPr>
        <p:spPr>
          <a:xfrm>
            <a:off x="4606705" y="4457905"/>
            <a:ext cx="2978590" cy="276999"/>
          </a:xfrm>
          <a:prstGeom prst="rect">
            <a:avLst/>
          </a:prstGeom>
          <a:solidFill>
            <a:srgbClr val="4E8FB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2022-01 </a:t>
            </a:r>
            <a:r>
              <a:rPr lang="en-US" altLang="ko-KR" sz="12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 CS L&amp;D</a:t>
            </a:r>
            <a:endParaRPr lang="ko-KR" altLang="en-US" sz="1200" dirty="0">
              <a:solidFill>
                <a:schemeClr val="bg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6278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EADA1F78-749A-482C-920A-BF4D68C46DF7}"/>
              </a:ext>
            </a:extLst>
          </p:cNvPr>
          <p:cNvSpPr/>
          <p:nvPr/>
        </p:nvSpPr>
        <p:spPr>
          <a:xfrm>
            <a:off x="2600325" y="0"/>
            <a:ext cx="800100" cy="6858000"/>
          </a:xfrm>
          <a:prstGeom prst="rect">
            <a:avLst/>
          </a:prstGeom>
          <a:solidFill>
            <a:srgbClr val="4E8FB0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346CEF8-44CA-4725-889C-03F0E0644169}"/>
              </a:ext>
            </a:extLst>
          </p:cNvPr>
          <p:cNvSpPr/>
          <p:nvPr/>
        </p:nvSpPr>
        <p:spPr>
          <a:xfrm>
            <a:off x="1028700" y="0"/>
            <a:ext cx="1771650" cy="6858000"/>
          </a:xfrm>
          <a:prstGeom prst="rect">
            <a:avLst/>
          </a:prstGeom>
          <a:solidFill>
            <a:srgbClr val="CAA081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02B92E-D51D-405E-BE19-A6A3A7D6CEFC}"/>
              </a:ext>
            </a:extLst>
          </p:cNvPr>
          <p:cNvSpPr/>
          <p:nvPr/>
        </p:nvSpPr>
        <p:spPr>
          <a:xfrm>
            <a:off x="0" y="0"/>
            <a:ext cx="1771650" cy="6858000"/>
          </a:xfrm>
          <a:prstGeom prst="rect">
            <a:avLst/>
          </a:prstGeom>
          <a:solidFill>
            <a:srgbClr val="2356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F08D29-55F7-48A4-BDD2-2F6348D7D9DC}"/>
              </a:ext>
            </a:extLst>
          </p:cNvPr>
          <p:cNvSpPr txBox="1"/>
          <p:nvPr/>
        </p:nvSpPr>
        <p:spPr>
          <a:xfrm>
            <a:off x="185737" y="466339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목차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E52B1E-7F9D-4247-8670-FEA14CF33525}"/>
              </a:ext>
            </a:extLst>
          </p:cNvPr>
          <p:cNvSpPr txBox="1"/>
          <p:nvPr/>
        </p:nvSpPr>
        <p:spPr>
          <a:xfrm>
            <a:off x="776287" y="558672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index</a:t>
            </a:r>
            <a:endParaRPr lang="ko-KR" altLang="en-US" dirty="0">
              <a:solidFill>
                <a:schemeClr val="bg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9EA4A6-A980-476A-88D8-FFE65C16ABC6}"/>
              </a:ext>
            </a:extLst>
          </p:cNvPr>
          <p:cNvSpPr txBox="1"/>
          <p:nvPr/>
        </p:nvSpPr>
        <p:spPr>
          <a:xfrm>
            <a:off x="2886076" y="1523613"/>
            <a:ext cx="409575" cy="2060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ko-KR" b="1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1.</a:t>
            </a:r>
          </a:p>
          <a:p>
            <a:pPr>
              <a:lnSpc>
                <a:spcPct val="250000"/>
              </a:lnSpc>
            </a:pPr>
            <a:r>
              <a:rPr lang="en-US" altLang="ko-KR" b="1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2.</a:t>
            </a:r>
          </a:p>
          <a:p>
            <a:pPr>
              <a:lnSpc>
                <a:spcPct val="250000"/>
              </a:lnSpc>
            </a:pPr>
            <a:r>
              <a:rPr lang="en-US" altLang="ko-KR" b="1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3.</a:t>
            </a:r>
            <a:endParaRPr lang="en-US" altLang="ko-KR" b="1" dirty="0">
              <a:solidFill>
                <a:schemeClr val="bg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122A57-AE61-40B0-BA73-B147A63E4A06}"/>
              </a:ext>
            </a:extLst>
          </p:cNvPr>
          <p:cNvSpPr txBox="1"/>
          <p:nvPr/>
        </p:nvSpPr>
        <p:spPr>
          <a:xfrm>
            <a:off x="3495675" y="1523614"/>
            <a:ext cx="3790950" cy="2753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ko-KR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Application Manual</a:t>
            </a:r>
          </a:p>
          <a:p>
            <a:pPr>
              <a:lnSpc>
                <a:spcPct val="250000"/>
              </a:lnSpc>
            </a:pPr>
            <a:r>
              <a:rPr lang="en-US" altLang="ko-KR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Operating System</a:t>
            </a:r>
          </a:p>
          <a:p>
            <a:pPr>
              <a:lnSpc>
                <a:spcPct val="250000"/>
              </a:lnSpc>
            </a:pPr>
            <a:r>
              <a:rPr lang="en-US" altLang="ko-KR">
                <a:solidFill>
                  <a:srgbClr val="313844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Next Level</a:t>
            </a:r>
          </a:p>
          <a:p>
            <a:pPr>
              <a:lnSpc>
                <a:spcPct val="250000"/>
              </a:lnSpc>
            </a:pPr>
            <a:endParaRPr lang="ko-KR" altLang="en-US" dirty="0">
              <a:solidFill>
                <a:srgbClr val="313844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1817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24B94B5C-BB9C-41AF-A149-BF251E0C2898}"/>
              </a:ext>
            </a:extLst>
          </p:cNvPr>
          <p:cNvSpPr/>
          <p:nvPr/>
        </p:nvSpPr>
        <p:spPr>
          <a:xfrm>
            <a:off x="5403410" y="2736410"/>
            <a:ext cx="1385180" cy="13851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+mn-cs"/>
              </a:rPr>
              <a:t>01</a:t>
            </a:r>
            <a:endParaRPr kumimoji="0" lang="ko-KR" altLang="en-US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4CFE21-97EA-4774-87C4-D8BB8928B750}"/>
              </a:ext>
            </a:extLst>
          </p:cNvPr>
          <p:cNvSpPr txBox="1"/>
          <p:nvPr/>
        </p:nvSpPr>
        <p:spPr>
          <a:xfrm>
            <a:off x="3672509" y="1795508"/>
            <a:ext cx="48846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>
                <a:solidFill>
                  <a:srgbClr val="313844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Application Manual</a:t>
            </a:r>
          </a:p>
        </p:txBody>
      </p:sp>
    </p:spTree>
    <p:extLst>
      <p:ext uri="{BB962C8B-B14F-4D97-AF65-F5344CB8AC3E}">
        <p14:creationId xmlns:p14="http://schemas.microsoft.com/office/powerpoint/2010/main" val="2372853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D833E85D-903C-46B4-B428-B0C1D29E0577}"/>
              </a:ext>
            </a:extLst>
          </p:cNvPr>
          <p:cNvSpPr/>
          <p:nvPr/>
        </p:nvSpPr>
        <p:spPr>
          <a:xfrm>
            <a:off x="142874" y="361950"/>
            <a:ext cx="2857501" cy="504825"/>
          </a:xfrm>
          <a:prstGeom prst="homePlat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1. 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제목을 입력하세요</a:t>
            </a: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en-US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AF926C6-6559-436D-90C9-74D999215D59}"/>
              </a:ext>
            </a:extLst>
          </p:cNvPr>
          <p:cNvSpPr/>
          <p:nvPr/>
        </p:nvSpPr>
        <p:spPr>
          <a:xfrm>
            <a:off x="558597" y="1150855"/>
            <a:ext cx="11092079" cy="1224381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rgbClr val="FF0000"/>
                </a:solidFill>
                <a:hlinkClick r:id="rId3"/>
              </a:rPr>
              <a:t>File Download Link</a:t>
            </a:r>
            <a:endParaRPr lang="en-US" altLang="ko-KR" b="1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b="1">
                <a:solidFill>
                  <a:srgbClr val="FF0000"/>
                </a:solidFill>
              </a:rPr>
              <a:t>주의 </a:t>
            </a:r>
            <a:r>
              <a:rPr lang="en-US" altLang="ko-KR" b="1">
                <a:solidFill>
                  <a:srgbClr val="FF0000"/>
                </a:solidFill>
              </a:rPr>
              <a:t>: Windows</a:t>
            </a:r>
            <a:r>
              <a:rPr lang="ko-KR" altLang="en-US" b="1">
                <a:solidFill>
                  <a:srgbClr val="FF0000"/>
                </a:solidFill>
              </a:rPr>
              <a:t>에서만 동작합니다</a:t>
            </a:r>
            <a:r>
              <a:rPr lang="en-US" altLang="ko-KR" b="1">
                <a:solidFill>
                  <a:srgbClr val="FF0000"/>
                </a:solidFill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b="1">
                <a:solidFill>
                  <a:schemeClr val="tx1"/>
                </a:solidFill>
              </a:rPr>
              <a:t>아래 순서에 따라서 </a:t>
            </a:r>
            <a:r>
              <a:rPr lang="en-US" altLang="ko-KR" b="1">
                <a:solidFill>
                  <a:schemeClr val="tx1"/>
                </a:solidFill>
              </a:rPr>
              <a:t>App</a:t>
            </a:r>
            <a:r>
              <a:rPr lang="ko-KR" altLang="en-US" b="1">
                <a:solidFill>
                  <a:schemeClr val="tx1"/>
                </a:solidFill>
              </a:rPr>
              <a:t>을 실행해주세요</a:t>
            </a:r>
            <a:r>
              <a:rPr lang="en-US" altLang="ko-KR" b="1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103D3DA-B2B2-4DC2-B715-CE93E973EB02}"/>
              </a:ext>
            </a:extLst>
          </p:cNvPr>
          <p:cNvSpPr/>
          <p:nvPr/>
        </p:nvSpPr>
        <p:spPr>
          <a:xfrm>
            <a:off x="412483" y="390766"/>
            <a:ext cx="5175784" cy="651033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/>
              <a:t>File</a:t>
            </a:r>
            <a:r>
              <a:rPr lang="ko-KR" altLang="en-US" sz="2400" b="1"/>
              <a:t> </a:t>
            </a:r>
            <a:r>
              <a:rPr lang="en-US" altLang="ko-KR" sz="2400" b="1"/>
              <a:t>Locate</a:t>
            </a:r>
            <a:endParaRPr lang="ko-KR" altLang="en-US" sz="24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DA0426C-AF3D-4018-BFCD-2F405FD2B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03" y="2550260"/>
            <a:ext cx="5499497" cy="109102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E708751-F1C9-4BA8-BE5D-991E6C2DA3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03" y="3816313"/>
            <a:ext cx="4642089" cy="127006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0E5CB05-F6AB-4D01-8DC5-8009B94B070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85620"/>
          <a:stretch/>
        </p:blipFill>
        <p:spPr>
          <a:xfrm>
            <a:off x="6830778" y="4464251"/>
            <a:ext cx="4819898" cy="63007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12111FC-38B3-4556-856C-2D5BC04155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503" y="5195434"/>
            <a:ext cx="5042159" cy="139072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78D14F1-E6C6-4B17-BA93-9C564775CFA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62436"/>
          <a:stretch/>
        </p:blipFill>
        <p:spPr>
          <a:xfrm>
            <a:off x="6830778" y="2818327"/>
            <a:ext cx="4819898" cy="1645924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003F26-F4E2-47B3-8366-5D0049866D19}"/>
              </a:ext>
            </a:extLst>
          </p:cNvPr>
          <p:cNvSpPr/>
          <p:nvPr/>
        </p:nvSpPr>
        <p:spPr>
          <a:xfrm>
            <a:off x="1121065" y="3154356"/>
            <a:ext cx="1879310" cy="360974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41D73C0-8FF8-486E-9D72-AF9B326218C7}"/>
              </a:ext>
            </a:extLst>
          </p:cNvPr>
          <p:cNvSpPr/>
          <p:nvPr/>
        </p:nvSpPr>
        <p:spPr>
          <a:xfrm>
            <a:off x="1038237" y="4770861"/>
            <a:ext cx="940335" cy="234691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3DA9F34-5192-4BCC-BEE2-929175C0E798}"/>
              </a:ext>
            </a:extLst>
          </p:cNvPr>
          <p:cNvSpPr/>
          <p:nvPr/>
        </p:nvSpPr>
        <p:spPr>
          <a:xfrm>
            <a:off x="650897" y="6325006"/>
            <a:ext cx="940335" cy="234691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E6CC111-4FDC-4079-BBF0-1F915E390D2A}"/>
              </a:ext>
            </a:extLst>
          </p:cNvPr>
          <p:cNvSpPr/>
          <p:nvPr/>
        </p:nvSpPr>
        <p:spPr>
          <a:xfrm>
            <a:off x="9797525" y="4672651"/>
            <a:ext cx="615600" cy="332901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213C82-7EB3-43EA-A631-CA8A9CA23395}"/>
              </a:ext>
            </a:extLst>
          </p:cNvPr>
          <p:cNvSpPr txBox="1"/>
          <p:nvPr/>
        </p:nvSpPr>
        <p:spPr>
          <a:xfrm>
            <a:off x="858417" y="3154356"/>
            <a:ext cx="262647" cy="323165"/>
          </a:xfrm>
          <a:prstGeom prst="rect">
            <a:avLst/>
          </a:prstGeom>
          <a:solidFill>
            <a:srgbClr val="C7402D"/>
          </a:solidFill>
          <a:ln>
            <a:solidFill>
              <a:srgbClr val="C7402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1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1D12EF-C64E-4394-9095-751C52E3E59B}"/>
              </a:ext>
            </a:extLst>
          </p:cNvPr>
          <p:cNvSpPr txBox="1"/>
          <p:nvPr/>
        </p:nvSpPr>
        <p:spPr>
          <a:xfrm>
            <a:off x="727093" y="4731936"/>
            <a:ext cx="262647" cy="323165"/>
          </a:xfrm>
          <a:prstGeom prst="rect">
            <a:avLst/>
          </a:prstGeom>
          <a:solidFill>
            <a:srgbClr val="C7402D"/>
          </a:solidFill>
          <a:ln>
            <a:solidFill>
              <a:srgbClr val="C7402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1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B862D0-7B18-439F-BD4D-38554076D36C}"/>
              </a:ext>
            </a:extLst>
          </p:cNvPr>
          <p:cNvSpPr txBox="1"/>
          <p:nvPr/>
        </p:nvSpPr>
        <p:spPr>
          <a:xfrm>
            <a:off x="347642" y="6280768"/>
            <a:ext cx="262647" cy="323165"/>
          </a:xfrm>
          <a:prstGeom prst="rect">
            <a:avLst/>
          </a:prstGeom>
          <a:solidFill>
            <a:srgbClr val="C7402D"/>
          </a:solidFill>
          <a:ln>
            <a:solidFill>
              <a:srgbClr val="C7402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1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F92AE-D227-447E-AE30-61251B5B79D7}"/>
              </a:ext>
            </a:extLst>
          </p:cNvPr>
          <p:cNvSpPr txBox="1"/>
          <p:nvPr/>
        </p:nvSpPr>
        <p:spPr>
          <a:xfrm>
            <a:off x="9454856" y="4682387"/>
            <a:ext cx="262647" cy="323165"/>
          </a:xfrm>
          <a:prstGeom prst="rect">
            <a:avLst/>
          </a:prstGeom>
          <a:solidFill>
            <a:srgbClr val="C7402D"/>
          </a:solidFill>
          <a:ln>
            <a:solidFill>
              <a:srgbClr val="C7402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15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3227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D833E85D-903C-46B4-B428-B0C1D29E0577}"/>
              </a:ext>
            </a:extLst>
          </p:cNvPr>
          <p:cNvSpPr/>
          <p:nvPr/>
        </p:nvSpPr>
        <p:spPr>
          <a:xfrm>
            <a:off x="142874" y="361950"/>
            <a:ext cx="2857501" cy="504825"/>
          </a:xfrm>
          <a:prstGeom prst="homePlat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1. 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제목을 입력하세요</a:t>
            </a: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en-US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103D3DA-B2B2-4DC2-B715-CE93E973EB02}"/>
              </a:ext>
            </a:extLst>
          </p:cNvPr>
          <p:cNvSpPr/>
          <p:nvPr/>
        </p:nvSpPr>
        <p:spPr>
          <a:xfrm>
            <a:off x="412483" y="390766"/>
            <a:ext cx="5175784" cy="852407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/>
              <a:t>Application Interface</a:t>
            </a:r>
            <a:endParaRPr lang="ko-KR" altLang="en-US" sz="24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EB7888-09CF-489B-BCFF-1410A890D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57" y="1672711"/>
            <a:ext cx="5175784" cy="4638994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DA5F6ED7-1221-4914-80CD-854D3C3806FB}"/>
              </a:ext>
            </a:extLst>
          </p:cNvPr>
          <p:cNvSpPr/>
          <p:nvPr/>
        </p:nvSpPr>
        <p:spPr>
          <a:xfrm>
            <a:off x="490443" y="2049109"/>
            <a:ext cx="2079335" cy="360974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3294E39-819F-41C2-B13A-9290789B23B2}"/>
              </a:ext>
            </a:extLst>
          </p:cNvPr>
          <p:cNvSpPr/>
          <p:nvPr/>
        </p:nvSpPr>
        <p:spPr>
          <a:xfrm>
            <a:off x="490442" y="2912202"/>
            <a:ext cx="2079335" cy="360974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1F0BEA1-7D4A-4332-8D2B-E72A4861CA0D}"/>
              </a:ext>
            </a:extLst>
          </p:cNvPr>
          <p:cNvSpPr/>
          <p:nvPr/>
        </p:nvSpPr>
        <p:spPr>
          <a:xfrm>
            <a:off x="490441" y="3318640"/>
            <a:ext cx="2079335" cy="559676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8B242D9-39DF-4A7B-981F-4344FC5D6C6C}"/>
              </a:ext>
            </a:extLst>
          </p:cNvPr>
          <p:cNvSpPr/>
          <p:nvPr/>
        </p:nvSpPr>
        <p:spPr>
          <a:xfrm>
            <a:off x="490441" y="3992209"/>
            <a:ext cx="4759476" cy="419758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5EFCE19-2BA0-4074-86C4-BE4719E61C1B}"/>
              </a:ext>
            </a:extLst>
          </p:cNvPr>
          <p:cNvSpPr/>
          <p:nvPr/>
        </p:nvSpPr>
        <p:spPr>
          <a:xfrm>
            <a:off x="490441" y="4424192"/>
            <a:ext cx="4759476" cy="362681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348AE3B-D9DC-454B-8FF7-3B24AB25E1DB}"/>
              </a:ext>
            </a:extLst>
          </p:cNvPr>
          <p:cNvSpPr/>
          <p:nvPr/>
        </p:nvSpPr>
        <p:spPr>
          <a:xfrm>
            <a:off x="490441" y="4871068"/>
            <a:ext cx="4759476" cy="1279822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F69C3F-CFC5-436D-AB52-75BD0EC44A97}"/>
              </a:ext>
            </a:extLst>
          </p:cNvPr>
          <p:cNvSpPr txBox="1"/>
          <p:nvPr/>
        </p:nvSpPr>
        <p:spPr>
          <a:xfrm>
            <a:off x="176085" y="2036079"/>
            <a:ext cx="262647" cy="323165"/>
          </a:xfrm>
          <a:prstGeom prst="rect">
            <a:avLst/>
          </a:prstGeom>
          <a:solidFill>
            <a:srgbClr val="C7402D"/>
          </a:solidFill>
          <a:ln>
            <a:solidFill>
              <a:srgbClr val="C7402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1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C64C92-595A-4B2A-9DA0-8CFB2D07C2DF}"/>
              </a:ext>
            </a:extLst>
          </p:cNvPr>
          <p:cNvSpPr txBox="1"/>
          <p:nvPr/>
        </p:nvSpPr>
        <p:spPr>
          <a:xfrm>
            <a:off x="176085" y="2899083"/>
            <a:ext cx="262647" cy="323165"/>
          </a:xfrm>
          <a:prstGeom prst="rect">
            <a:avLst/>
          </a:prstGeom>
          <a:solidFill>
            <a:srgbClr val="C7402D"/>
          </a:solidFill>
          <a:ln>
            <a:solidFill>
              <a:srgbClr val="C7402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1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E6FB6D-9A76-470B-A724-9FE314583C28}"/>
              </a:ext>
            </a:extLst>
          </p:cNvPr>
          <p:cNvSpPr txBox="1"/>
          <p:nvPr/>
        </p:nvSpPr>
        <p:spPr>
          <a:xfrm>
            <a:off x="176085" y="3308949"/>
            <a:ext cx="262647" cy="323165"/>
          </a:xfrm>
          <a:prstGeom prst="rect">
            <a:avLst/>
          </a:prstGeom>
          <a:solidFill>
            <a:srgbClr val="C7402D"/>
          </a:solidFill>
          <a:ln>
            <a:solidFill>
              <a:srgbClr val="C7402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1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53DD2E-4A28-4440-9D0D-225515B0411D}"/>
              </a:ext>
            </a:extLst>
          </p:cNvPr>
          <p:cNvSpPr txBox="1"/>
          <p:nvPr/>
        </p:nvSpPr>
        <p:spPr>
          <a:xfrm>
            <a:off x="176085" y="3980886"/>
            <a:ext cx="262647" cy="323165"/>
          </a:xfrm>
          <a:prstGeom prst="rect">
            <a:avLst/>
          </a:prstGeom>
          <a:solidFill>
            <a:srgbClr val="C7402D"/>
          </a:solidFill>
          <a:ln>
            <a:solidFill>
              <a:srgbClr val="C7402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1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6C916-34A3-4DF3-A620-24936971E289}"/>
              </a:ext>
            </a:extLst>
          </p:cNvPr>
          <p:cNvSpPr txBox="1"/>
          <p:nvPr/>
        </p:nvSpPr>
        <p:spPr>
          <a:xfrm>
            <a:off x="176085" y="4420170"/>
            <a:ext cx="262647" cy="323165"/>
          </a:xfrm>
          <a:prstGeom prst="rect">
            <a:avLst/>
          </a:prstGeom>
          <a:solidFill>
            <a:srgbClr val="C7402D"/>
          </a:solidFill>
          <a:ln>
            <a:solidFill>
              <a:srgbClr val="C7402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>
                <a:solidFill>
                  <a:schemeClr val="bg1"/>
                </a:solidFill>
                <a:latin typeface="+mn-ea"/>
              </a:rPr>
              <a:t>5</a:t>
            </a:r>
            <a:endParaRPr lang="ko-KR" altLang="en-US" sz="1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51E199-DD60-4A0D-A415-1EA54E2B82DE}"/>
              </a:ext>
            </a:extLst>
          </p:cNvPr>
          <p:cNvSpPr txBox="1"/>
          <p:nvPr/>
        </p:nvSpPr>
        <p:spPr>
          <a:xfrm>
            <a:off x="176085" y="4880249"/>
            <a:ext cx="262647" cy="323165"/>
          </a:xfrm>
          <a:prstGeom prst="rect">
            <a:avLst/>
          </a:prstGeom>
          <a:solidFill>
            <a:srgbClr val="C7402D"/>
          </a:solidFill>
          <a:ln>
            <a:solidFill>
              <a:srgbClr val="C7402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>
                <a:solidFill>
                  <a:schemeClr val="bg1"/>
                </a:solidFill>
                <a:latin typeface="+mn-ea"/>
              </a:rPr>
              <a:t>6</a:t>
            </a:r>
            <a:endParaRPr lang="ko-KR" altLang="en-US" sz="1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A8FE78-5FE2-40E2-BBB5-13586A68DDD1}"/>
              </a:ext>
            </a:extLst>
          </p:cNvPr>
          <p:cNvSpPr/>
          <p:nvPr/>
        </p:nvSpPr>
        <p:spPr>
          <a:xfrm>
            <a:off x="5872654" y="1672711"/>
            <a:ext cx="5828903" cy="4552591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>
                <a:solidFill>
                  <a:schemeClr val="tx1"/>
                </a:solidFill>
              </a:rPr>
              <a:t>ALL – </a:t>
            </a:r>
            <a:r>
              <a:rPr lang="ko-KR" altLang="en-US" b="1">
                <a:solidFill>
                  <a:schemeClr val="tx1"/>
                </a:solidFill>
              </a:rPr>
              <a:t>전체 매크로 다운로드</a:t>
            </a:r>
            <a:br>
              <a:rPr lang="en-US" altLang="ko-KR" b="1">
                <a:solidFill>
                  <a:schemeClr val="tx1"/>
                </a:solidFill>
              </a:rPr>
            </a:br>
            <a:r>
              <a:rPr lang="en-US" altLang="ko-KR" b="1">
                <a:solidFill>
                  <a:schemeClr val="tx1"/>
                </a:solidFill>
              </a:rPr>
              <a:t>Active – </a:t>
            </a:r>
            <a:r>
              <a:rPr lang="ko-KR" altLang="en-US" b="1">
                <a:solidFill>
                  <a:schemeClr val="tx1"/>
                </a:solidFill>
              </a:rPr>
              <a:t>활성화 매크로만 다운로드</a:t>
            </a:r>
            <a:endParaRPr lang="en-US" altLang="ko-KR" b="1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>
                <a:solidFill>
                  <a:schemeClr val="tx1"/>
                </a:solidFill>
              </a:rPr>
              <a:t>매크로 리스트 정렬 순서</a:t>
            </a:r>
            <a:br>
              <a:rPr lang="en-US" altLang="ko-KR" b="1">
                <a:solidFill>
                  <a:schemeClr val="tx1"/>
                </a:solidFill>
              </a:rPr>
            </a:br>
            <a:r>
              <a:rPr lang="en-US" altLang="ko-KR" b="1">
                <a:solidFill>
                  <a:schemeClr val="tx1"/>
                </a:solidFill>
              </a:rPr>
              <a:t>ASC – </a:t>
            </a:r>
            <a:r>
              <a:rPr lang="ko-KR" altLang="en-US" b="1">
                <a:solidFill>
                  <a:schemeClr val="tx1"/>
                </a:solidFill>
              </a:rPr>
              <a:t>오름차순 정렬</a:t>
            </a:r>
            <a:br>
              <a:rPr lang="en-US" altLang="ko-KR" b="1">
                <a:solidFill>
                  <a:schemeClr val="tx1"/>
                </a:solidFill>
              </a:rPr>
            </a:br>
            <a:r>
              <a:rPr lang="en-US" altLang="ko-KR" b="1">
                <a:solidFill>
                  <a:schemeClr val="tx1"/>
                </a:solidFill>
              </a:rPr>
              <a:t>DESC – </a:t>
            </a:r>
            <a:r>
              <a:rPr lang="ko-KR" altLang="en-US" b="1">
                <a:solidFill>
                  <a:schemeClr val="tx1"/>
                </a:solidFill>
              </a:rPr>
              <a:t>내림차순 정렬</a:t>
            </a:r>
            <a:endParaRPr lang="en-US" altLang="ko-KR" b="1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>
                <a:solidFill>
                  <a:schemeClr val="tx1"/>
                </a:solidFill>
              </a:rPr>
              <a:t>매크로 리스트 정렬 기준</a:t>
            </a:r>
            <a:br>
              <a:rPr lang="en-US" altLang="ko-KR" b="1">
                <a:solidFill>
                  <a:schemeClr val="tx1"/>
                </a:solidFill>
              </a:rPr>
            </a:br>
            <a:r>
              <a:rPr lang="en-US" altLang="ko-KR" b="1">
                <a:solidFill>
                  <a:schemeClr val="tx1"/>
                </a:solidFill>
              </a:rPr>
              <a:t>(</a:t>
            </a:r>
            <a:r>
              <a:rPr lang="ko-KR" altLang="en-US" b="1">
                <a:solidFill>
                  <a:schemeClr val="tx1"/>
                </a:solidFill>
              </a:rPr>
              <a:t>생성</a:t>
            </a:r>
            <a:r>
              <a:rPr lang="en-US" altLang="ko-KR" b="1">
                <a:solidFill>
                  <a:schemeClr val="tx1"/>
                </a:solidFill>
              </a:rPr>
              <a:t>,</a:t>
            </a:r>
            <a:r>
              <a:rPr lang="ko-KR" altLang="en-US" b="1">
                <a:solidFill>
                  <a:schemeClr val="tx1"/>
                </a:solidFill>
              </a:rPr>
              <a:t>수정</a:t>
            </a:r>
            <a:r>
              <a:rPr lang="en-US" altLang="ko-KR" b="1">
                <a:solidFill>
                  <a:schemeClr val="tx1"/>
                </a:solidFill>
              </a:rPr>
              <a:t>,1</a:t>
            </a:r>
            <a:r>
              <a:rPr lang="ko-KR" altLang="en-US" b="1">
                <a:solidFill>
                  <a:schemeClr val="tx1"/>
                </a:solidFill>
              </a:rPr>
              <a:t>일 사용량  등</a:t>
            </a:r>
            <a:r>
              <a:rPr lang="en-US" altLang="ko-KR" b="1">
                <a:solidFill>
                  <a:schemeClr val="tx1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>
                <a:solidFill>
                  <a:schemeClr val="tx1"/>
                </a:solidFill>
              </a:rPr>
              <a:t>매크로 리스트 파일 저장 위치</a:t>
            </a:r>
            <a:endParaRPr lang="en-US" altLang="ko-KR" b="1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>
                <a:solidFill>
                  <a:schemeClr val="tx1"/>
                </a:solidFill>
              </a:rPr>
              <a:t>매크로 리스트 다운로드 버튼</a:t>
            </a:r>
            <a:endParaRPr lang="en-US" altLang="ko-KR" b="1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>
                <a:solidFill>
                  <a:schemeClr val="tx1"/>
                </a:solidFill>
              </a:rPr>
              <a:t>작업 현황 알림창</a:t>
            </a:r>
            <a:endParaRPr lang="en-US" altLang="ko-KR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43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D833E85D-903C-46B4-B428-B0C1D29E0577}"/>
              </a:ext>
            </a:extLst>
          </p:cNvPr>
          <p:cNvSpPr/>
          <p:nvPr/>
        </p:nvSpPr>
        <p:spPr>
          <a:xfrm>
            <a:off x="142874" y="361950"/>
            <a:ext cx="2857501" cy="504825"/>
          </a:xfrm>
          <a:prstGeom prst="homePlat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1. 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제목을 입력하세요</a:t>
            </a: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en-US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103D3DA-B2B2-4DC2-B715-CE93E973EB02}"/>
              </a:ext>
            </a:extLst>
          </p:cNvPr>
          <p:cNvSpPr/>
          <p:nvPr/>
        </p:nvSpPr>
        <p:spPr>
          <a:xfrm>
            <a:off x="412483" y="390766"/>
            <a:ext cx="5175784" cy="852407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/>
              <a:t>How to Download</a:t>
            </a:r>
            <a:endParaRPr lang="ko-KR" altLang="en-US" sz="24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EB7888-09CF-489B-BCFF-1410A890D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57" y="1672711"/>
            <a:ext cx="5175784" cy="4638994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91F0BEA1-7D4A-4332-8D2B-E72A4861CA0D}"/>
              </a:ext>
            </a:extLst>
          </p:cNvPr>
          <p:cNvSpPr/>
          <p:nvPr/>
        </p:nvSpPr>
        <p:spPr>
          <a:xfrm>
            <a:off x="490441" y="2049109"/>
            <a:ext cx="2079335" cy="1829207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8B242D9-39DF-4A7B-981F-4344FC5D6C6C}"/>
              </a:ext>
            </a:extLst>
          </p:cNvPr>
          <p:cNvSpPr/>
          <p:nvPr/>
        </p:nvSpPr>
        <p:spPr>
          <a:xfrm>
            <a:off x="490441" y="3992209"/>
            <a:ext cx="510669" cy="362681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5EFCE19-2BA0-4074-86C4-BE4719E61C1B}"/>
              </a:ext>
            </a:extLst>
          </p:cNvPr>
          <p:cNvSpPr/>
          <p:nvPr/>
        </p:nvSpPr>
        <p:spPr>
          <a:xfrm>
            <a:off x="490441" y="4424192"/>
            <a:ext cx="1559076" cy="362681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F69C3F-CFC5-436D-AB52-75BD0EC44A97}"/>
              </a:ext>
            </a:extLst>
          </p:cNvPr>
          <p:cNvSpPr txBox="1"/>
          <p:nvPr/>
        </p:nvSpPr>
        <p:spPr>
          <a:xfrm>
            <a:off x="176085" y="2036079"/>
            <a:ext cx="262647" cy="323165"/>
          </a:xfrm>
          <a:prstGeom prst="rect">
            <a:avLst/>
          </a:prstGeom>
          <a:solidFill>
            <a:srgbClr val="C7402D"/>
          </a:solidFill>
          <a:ln>
            <a:solidFill>
              <a:srgbClr val="C7402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1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C64C92-595A-4B2A-9DA0-8CFB2D07C2DF}"/>
              </a:ext>
            </a:extLst>
          </p:cNvPr>
          <p:cNvSpPr txBox="1"/>
          <p:nvPr/>
        </p:nvSpPr>
        <p:spPr>
          <a:xfrm>
            <a:off x="142874" y="4053729"/>
            <a:ext cx="262647" cy="323165"/>
          </a:xfrm>
          <a:prstGeom prst="rect">
            <a:avLst/>
          </a:prstGeom>
          <a:solidFill>
            <a:srgbClr val="C7402D"/>
          </a:solidFill>
          <a:ln>
            <a:solidFill>
              <a:srgbClr val="C7402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1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E6FB6D-9A76-470B-A724-9FE314583C28}"/>
              </a:ext>
            </a:extLst>
          </p:cNvPr>
          <p:cNvSpPr txBox="1"/>
          <p:nvPr/>
        </p:nvSpPr>
        <p:spPr>
          <a:xfrm>
            <a:off x="136652" y="4483267"/>
            <a:ext cx="262647" cy="323165"/>
          </a:xfrm>
          <a:prstGeom prst="rect">
            <a:avLst/>
          </a:prstGeom>
          <a:solidFill>
            <a:srgbClr val="C7402D"/>
          </a:solidFill>
          <a:ln>
            <a:solidFill>
              <a:srgbClr val="C7402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1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A8FE78-5FE2-40E2-BBB5-13586A68DDD1}"/>
              </a:ext>
            </a:extLst>
          </p:cNvPr>
          <p:cNvSpPr/>
          <p:nvPr/>
        </p:nvSpPr>
        <p:spPr>
          <a:xfrm>
            <a:off x="5872656" y="3838085"/>
            <a:ext cx="5828903" cy="2473620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>
                <a:solidFill>
                  <a:schemeClr val="tx1"/>
                </a:solidFill>
              </a:rPr>
              <a:t>다운로드할 범위와 정렬 순서를 선택합니다</a:t>
            </a:r>
            <a:r>
              <a:rPr lang="en-US" altLang="ko-KR" b="1">
                <a:solidFill>
                  <a:schemeClr val="tx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>
                <a:solidFill>
                  <a:schemeClr val="tx1"/>
                </a:solidFill>
              </a:rPr>
              <a:t>다운로드 파일의 저장 위치를 선택합니다</a:t>
            </a:r>
            <a:r>
              <a:rPr lang="en-US" altLang="ko-KR" b="1">
                <a:solidFill>
                  <a:schemeClr val="tx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>
                <a:solidFill>
                  <a:schemeClr val="tx1"/>
                </a:solidFill>
              </a:rPr>
              <a:t>“1. Zendesk Log-in“ </a:t>
            </a:r>
            <a:r>
              <a:rPr lang="ko-KR" altLang="en-US" b="1">
                <a:solidFill>
                  <a:schemeClr val="tx1"/>
                </a:solidFill>
              </a:rPr>
              <a:t>버튼을 클릭합니다</a:t>
            </a:r>
            <a:r>
              <a:rPr lang="en-US" altLang="ko-KR" b="1">
                <a:solidFill>
                  <a:schemeClr val="tx1"/>
                </a:solidFill>
              </a:rPr>
              <a:t>.</a:t>
            </a:r>
            <a:br>
              <a:rPr lang="en-US" altLang="ko-KR" b="1">
                <a:solidFill>
                  <a:schemeClr val="tx1"/>
                </a:solidFill>
              </a:rPr>
            </a:br>
            <a:r>
              <a:rPr lang="ko-KR" altLang="en-US" b="1">
                <a:solidFill>
                  <a:schemeClr val="tx1"/>
                </a:solidFill>
              </a:rPr>
              <a:t>버튼을 클릭하면 크롬창이 생성됩니다</a:t>
            </a:r>
            <a:r>
              <a:rPr lang="en-US" altLang="ko-KR" b="1">
                <a:solidFill>
                  <a:schemeClr val="tx1"/>
                </a:solidFill>
              </a:rPr>
              <a:t>.</a:t>
            </a:r>
            <a:br>
              <a:rPr lang="en-US" altLang="ko-KR" b="1">
                <a:solidFill>
                  <a:schemeClr val="tx1"/>
                </a:solidFill>
              </a:rPr>
            </a:br>
            <a:r>
              <a:rPr lang="en-US" altLang="ko-KR" b="1">
                <a:solidFill>
                  <a:schemeClr val="tx1"/>
                </a:solidFill>
              </a:rPr>
              <a:t>Zendesk</a:t>
            </a:r>
            <a:r>
              <a:rPr lang="ko-KR" altLang="en-US" b="1">
                <a:solidFill>
                  <a:schemeClr val="tx1"/>
                </a:solidFill>
              </a:rPr>
              <a:t>에 본인의 계정으로 로그인을 완료합니다</a:t>
            </a:r>
            <a:r>
              <a:rPr lang="en-US" altLang="ko-KR" b="1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45AAF4D-3594-4E5C-A496-C4A0B553D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655" y="558269"/>
            <a:ext cx="5828903" cy="3192958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E6B87CA3-359E-49C4-8F6A-71244EC608C9}"/>
              </a:ext>
            </a:extLst>
          </p:cNvPr>
          <p:cNvSpPr/>
          <p:nvPr/>
        </p:nvSpPr>
        <p:spPr>
          <a:xfrm>
            <a:off x="5872654" y="802563"/>
            <a:ext cx="5828903" cy="277376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D4031A8-0567-4A99-A3A1-940441F99A69}"/>
              </a:ext>
            </a:extLst>
          </p:cNvPr>
          <p:cNvSpPr/>
          <p:nvPr/>
        </p:nvSpPr>
        <p:spPr>
          <a:xfrm>
            <a:off x="7593723" y="2012981"/>
            <a:ext cx="2149367" cy="446439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0429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D2F389D-9237-4DC8-BF9B-6A3A36E81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654" y="583934"/>
            <a:ext cx="5762298" cy="3081047"/>
          </a:xfrm>
          <a:prstGeom prst="rect">
            <a:avLst/>
          </a:prstGeom>
        </p:spPr>
      </p:pic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D833E85D-903C-46B4-B428-B0C1D29E0577}"/>
              </a:ext>
            </a:extLst>
          </p:cNvPr>
          <p:cNvSpPr/>
          <p:nvPr/>
        </p:nvSpPr>
        <p:spPr>
          <a:xfrm>
            <a:off x="142874" y="361950"/>
            <a:ext cx="2857501" cy="504825"/>
          </a:xfrm>
          <a:prstGeom prst="homePlat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1. 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제목을 입력하세요</a:t>
            </a: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en-US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103D3DA-B2B2-4DC2-B715-CE93E973EB02}"/>
              </a:ext>
            </a:extLst>
          </p:cNvPr>
          <p:cNvSpPr/>
          <p:nvPr/>
        </p:nvSpPr>
        <p:spPr>
          <a:xfrm>
            <a:off x="412483" y="390766"/>
            <a:ext cx="5175784" cy="852407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/>
              <a:t>How to Download</a:t>
            </a:r>
            <a:endParaRPr lang="ko-KR" altLang="en-US" sz="24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EB7888-09CF-489B-BCFF-1410A890D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657" y="1672711"/>
            <a:ext cx="5175784" cy="4638994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35EFCE19-2BA0-4074-86C4-BE4719E61C1B}"/>
              </a:ext>
            </a:extLst>
          </p:cNvPr>
          <p:cNvSpPr/>
          <p:nvPr/>
        </p:nvSpPr>
        <p:spPr>
          <a:xfrm>
            <a:off x="2059110" y="4443751"/>
            <a:ext cx="1559076" cy="362681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F69C3F-CFC5-436D-AB52-75BD0EC44A97}"/>
              </a:ext>
            </a:extLst>
          </p:cNvPr>
          <p:cNvSpPr txBox="1"/>
          <p:nvPr/>
        </p:nvSpPr>
        <p:spPr>
          <a:xfrm>
            <a:off x="2059110" y="4111132"/>
            <a:ext cx="262647" cy="323165"/>
          </a:xfrm>
          <a:prstGeom prst="rect">
            <a:avLst/>
          </a:prstGeom>
          <a:solidFill>
            <a:srgbClr val="C7402D"/>
          </a:solidFill>
          <a:ln>
            <a:solidFill>
              <a:srgbClr val="C7402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1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E6FB6D-9A76-470B-A724-9FE314583C28}"/>
              </a:ext>
            </a:extLst>
          </p:cNvPr>
          <p:cNvSpPr txBox="1"/>
          <p:nvPr/>
        </p:nvSpPr>
        <p:spPr>
          <a:xfrm>
            <a:off x="3686060" y="4120586"/>
            <a:ext cx="262647" cy="323165"/>
          </a:xfrm>
          <a:prstGeom prst="rect">
            <a:avLst/>
          </a:prstGeom>
          <a:solidFill>
            <a:srgbClr val="C7402D"/>
          </a:solidFill>
          <a:ln>
            <a:solidFill>
              <a:srgbClr val="C7402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>
                <a:solidFill>
                  <a:schemeClr val="bg1"/>
                </a:solidFill>
                <a:latin typeface="+mn-ea"/>
              </a:rPr>
              <a:t>5</a:t>
            </a:r>
            <a:endParaRPr lang="ko-KR" altLang="en-US" sz="15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A8FE78-5FE2-40E2-BBB5-13586A68DDD1}"/>
              </a:ext>
            </a:extLst>
          </p:cNvPr>
          <p:cNvSpPr/>
          <p:nvPr/>
        </p:nvSpPr>
        <p:spPr>
          <a:xfrm>
            <a:off x="5872656" y="3838085"/>
            <a:ext cx="5828903" cy="2473620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b="1">
                <a:solidFill>
                  <a:schemeClr val="tx1"/>
                </a:solidFill>
              </a:rPr>
              <a:t>“2.Download Start” </a:t>
            </a:r>
            <a:r>
              <a:rPr lang="ko-KR" altLang="en-US" b="1">
                <a:solidFill>
                  <a:schemeClr val="tx1"/>
                </a:solidFill>
              </a:rPr>
              <a:t>버튼을 클릭하면 매크로 리스트 요청과 다운로드를 시작합니다</a:t>
            </a:r>
            <a:r>
              <a:rPr lang="en-US" altLang="ko-KR" b="1">
                <a:solidFill>
                  <a:schemeClr val="tx1"/>
                </a:solidFill>
              </a:rPr>
              <a:t>.</a:t>
            </a:r>
            <a:br>
              <a:rPr lang="en-US" altLang="ko-KR" b="1">
                <a:solidFill>
                  <a:schemeClr val="tx1"/>
                </a:solidFill>
              </a:rPr>
            </a:br>
            <a:endParaRPr lang="en-US" altLang="ko-KR" b="1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b="1">
                <a:solidFill>
                  <a:schemeClr val="tx1"/>
                </a:solidFill>
              </a:rPr>
              <a:t>모든 작업이 완료되었다면 </a:t>
            </a:r>
            <a:r>
              <a:rPr lang="en-US" altLang="ko-KR" b="1">
                <a:solidFill>
                  <a:schemeClr val="tx1"/>
                </a:solidFill>
              </a:rPr>
              <a:t>“3.EXIT” </a:t>
            </a:r>
            <a:r>
              <a:rPr lang="ko-KR" altLang="en-US" b="1">
                <a:solidFill>
                  <a:schemeClr val="tx1"/>
                </a:solidFill>
              </a:rPr>
              <a:t>버튼을 클릭하여 </a:t>
            </a:r>
            <a:r>
              <a:rPr lang="en-US" altLang="ko-KR" b="1">
                <a:solidFill>
                  <a:schemeClr val="tx1"/>
                </a:solidFill>
              </a:rPr>
              <a:t>App</a:t>
            </a:r>
            <a:r>
              <a:rPr lang="ko-KR" altLang="en-US" b="1">
                <a:solidFill>
                  <a:schemeClr val="tx1"/>
                </a:solidFill>
              </a:rPr>
              <a:t>을 종료합니다</a:t>
            </a:r>
            <a:r>
              <a:rPr lang="en-US" altLang="ko-KR" b="1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6B87CA3-359E-49C4-8F6A-71244EC608C9}"/>
              </a:ext>
            </a:extLst>
          </p:cNvPr>
          <p:cNvSpPr/>
          <p:nvPr/>
        </p:nvSpPr>
        <p:spPr>
          <a:xfrm>
            <a:off x="5872654" y="802563"/>
            <a:ext cx="5828903" cy="277376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43589A3-9957-4E77-9A26-15C96D276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24" y="4910958"/>
            <a:ext cx="2298818" cy="1198179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2A14B11E-FE7B-44E2-9A36-A2E83EEAB638}"/>
              </a:ext>
            </a:extLst>
          </p:cNvPr>
          <p:cNvSpPr/>
          <p:nvPr/>
        </p:nvSpPr>
        <p:spPr>
          <a:xfrm>
            <a:off x="3632337" y="4451837"/>
            <a:ext cx="1559076" cy="362681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5372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6D552BE0-CB3E-4D56-91CA-7B48756F4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56" y="3639706"/>
            <a:ext cx="5114711" cy="268022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DC4C9F0-4A35-42B6-8D38-C5CDC18D5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292" y="1535771"/>
            <a:ext cx="5286752" cy="1893229"/>
          </a:xfrm>
          <a:prstGeom prst="rect">
            <a:avLst/>
          </a:prstGeom>
        </p:spPr>
      </p:pic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D833E85D-903C-46B4-B428-B0C1D29E0577}"/>
              </a:ext>
            </a:extLst>
          </p:cNvPr>
          <p:cNvSpPr/>
          <p:nvPr/>
        </p:nvSpPr>
        <p:spPr>
          <a:xfrm>
            <a:off x="142874" y="361950"/>
            <a:ext cx="2857501" cy="504825"/>
          </a:xfrm>
          <a:prstGeom prst="homePlat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1. 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제목을 입력하세요</a:t>
            </a: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en-US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103D3DA-B2B2-4DC2-B715-CE93E973EB02}"/>
              </a:ext>
            </a:extLst>
          </p:cNvPr>
          <p:cNvSpPr/>
          <p:nvPr/>
        </p:nvSpPr>
        <p:spPr>
          <a:xfrm>
            <a:off x="412483" y="390766"/>
            <a:ext cx="5175784" cy="852407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/>
              <a:t>Download Result</a:t>
            </a:r>
            <a:endParaRPr lang="ko-KR" altLang="en-US" sz="2400" b="1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A8FE78-5FE2-40E2-BBB5-13586A68DDD1}"/>
              </a:ext>
            </a:extLst>
          </p:cNvPr>
          <p:cNvSpPr/>
          <p:nvPr/>
        </p:nvSpPr>
        <p:spPr>
          <a:xfrm>
            <a:off x="5872656" y="1535771"/>
            <a:ext cx="5828903" cy="4775934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b="1">
                <a:solidFill>
                  <a:schemeClr val="tx1"/>
                </a:solidFill>
              </a:rPr>
              <a:t>요청 응답 </a:t>
            </a:r>
            <a:r>
              <a:rPr lang="en-US" altLang="ko-KR" b="1">
                <a:solidFill>
                  <a:schemeClr val="tx1"/>
                </a:solidFill>
              </a:rPr>
              <a:t>JSON </a:t>
            </a:r>
            <a:r>
              <a:rPr lang="ko-KR" altLang="en-US" b="1">
                <a:solidFill>
                  <a:schemeClr val="tx1"/>
                </a:solidFill>
              </a:rPr>
              <a:t>파일과 </a:t>
            </a:r>
            <a:r>
              <a:rPr lang="en-US" altLang="ko-KR" b="1">
                <a:solidFill>
                  <a:schemeClr val="tx1"/>
                </a:solidFill>
              </a:rPr>
              <a:t>JSON </a:t>
            </a:r>
            <a:r>
              <a:rPr lang="ko-KR" altLang="en-US" b="1">
                <a:solidFill>
                  <a:schemeClr val="tx1"/>
                </a:solidFill>
              </a:rPr>
              <a:t>파일을 통합한 </a:t>
            </a:r>
            <a:r>
              <a:rPr lang="en-US" altLang="ko-KR" b="1">
                <a:solidFill>
                  <a:schemeClr val="tx1"/>
                </a:solidFill>
              </a:rPr>
              <a:t>EXCEL </a:t>
            </a:r>
            <a:r>
              <a:rPr lang="ko-KR" altLang="en-US" b="1">
                <a:solidFill>
                  <a:schemeClr val="tx1"/>
                </a:solidFill>
              </a:rPr>
              <a:t>파일이 생성되었습니다</a:t>
            </a:r>
            <a:r>
              <a:rPr lang="en-US" altLang="ko-KR" b="1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b="1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</a:rPr>
              <a:t>EXCEL </a:t>
            </a:r>
            <a:r>
              <a:rPr lang="ko-KR" altLang="en-US" b="1">
                <a:solidFill>
                  <a:schemeClr val="tx1"/>
                </a:solidFill>
              </a:rPr>
              <a:t>파일에서 </a:t>
            </a:r>
            <a:r>
              <a:rPr lang="en-US" altLang="ko-KR" b="1">
                <a:solidFill>
                  <a:schemeClr val="tx1"/>
                </a:solidFill>
              </a:rPr>
              <a:t>Zendesk </a:t>
            </a:r>
            <a:r>
              <a:rPr lang="ko-KR" altLang="en-US" b="1">
                <a:solidFill>
                  <a:schemeClr val="tx1"/>
                </a:solidFill>
              </a:rPr>
              <a:t>내 매크로의 정보와 사용량을 확인 할 수 있습니다</a:t>
            </a:r>
            <a:r>
              <a:rPr lang="en-US" altLang="ko-KR" b="1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A14B11E-FE7B-44E2-9A36-A2E83EEAB638}"/>
              </a:ext>
            </a:extLst>
          </p:cNvPr>
          <p:cNvSpPr/>
          <p:nvPr/>
        </p:nvSpPr>
        <p:spPr>
          <a:xfrm>
            <a:off x="555212" y="3129455"/>
            <a:ext cx="1880559" cy="204952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052C3B9-B761-41CD-98A7-74FA092AC15F}"/>
              </a:ext>
            </a:extLst>
          </p:cNvPr>
          <p:cNvSpPr/>
          <p:nvPr/>
        </p:nvSpPr>
        <p:spPr>
          <a:xfrm>
            <a:off x="4012324" y="3721597"/>
            <a:ext cx="1575943" cy="2598335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7635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24B94B5C-BB9C-41AF-A149-BF251E0C2898}"/>
              </a:ext>
            </a:extLst>
          </p:cNvPr>
          <p:cNvSpPr/>
          <p:nvPr/>
        </p:nvSpPr>
        <p:spPr>
          <a:xfrm>
            <a:off x="5403410" y="2736410"/>
            <a:ext cx="1385180" cy="13851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+mn-cs"/>
              </a:rPr>
              <a:t>02</a:t>
            </a:r>
            <a:endParaRPr kumimoji="0" lang="ko-KR" altLang="en-US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4CFE21-97EA-4774-87C4-D8BB8928B750}"/>
              </a:ext>
            </a:extLst>
          </p:cNvPr>
          <p:cNvSpPr txBox="1"/>
          <p:nvPr/>
        </p:nvSpPr>
        <p:spPr>
          <a:xfrm>
            <a:off x="3672509" y="1795508"/>
            <a:ext cx="48846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>
                <a:solidFill>
                  <a:srgbClr val="313844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how it works</a:t>
            </a:r>
          </a:p>
        </p:txBody>
      </p:sp>
    </p:spTree>
    <p:extLst>
      <p:ext uri="{BB962C8B-B14F-4D97-AF65-F5344CB8AC3E}">
        <p14:creationId xmlns:p14="http://schemas.microsoft.com/office/powerpoint/2010/main" val="2585527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F257B55-EB2B-4C76-8CE4-8A52A3BB6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99" y="2356423"/>
            <a:ext cx="1965916" cy="214515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8D5B556-E6BA-403A-AD12-4A7FB457D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102" y="2356423"/>
            <a:ext cx="1828799" cy="22255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D5CF77-2811-4888-B1BD-729EE18C51F4}"/>
              </a:ext>
            </a:extLst>
          </p:cNvPr>
          <p:cNvSpPr txBox="1"/>
          <p:nvPr/>
        </p:nvSpPr>
        <p:spPr>
          <a:xfrm>
            <a:off x="1256800" y="1923812"/>
            <a:ext cx="161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쿠팡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PC</a:t>
            </a:r>
            <a:endParaRPr lang="ko-KR" altLang="en-US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243545-141B-43BF-BBDD-0185D1E97E07}"/>
              </a:ext>
            </a:extLst>
          </p:cNvPr>
          <p:cNvSpPr txBox="1"/>
          <p:nvPr/>
        </p:nvSpPr>
        <p:spPr>
          <a:xfrm>
            <a:off x="9753600" y="1923812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Zendesk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Server</a:t>
            </a:r>
            <a:endParaRPr lang="ko-KR" altLang="en-US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31B1FE2-EF12-4E8F-9BB0-89E74D3852B3}"/>
              </a:ext>
            </a:extLst>
          </p:cNvPr>
          <p:cNvCxnSpPr/>
          <p:nvPr/>
        </p:nvCxnSpPr>
        <p:spPr>
          <a:xfrm>
            <a:off x="2763520" y="2946400"/>
            <a:ext cx="6604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72DF81D-9133-4B98-9D57-86D6185C7F06}"/>
              </a:ext>
            </a:extLst>
          </p:cNvPr>
          <p:cNvCxnSpPr>
            <a:cxnSpLocks/>
          </p:cNvCxnSpPr>
          <p:nvPr/>
        </p:nvCxnSpPr>
        <p:spPr>
          <a:xfrm flipH="1">
            <a:off x="2763520" y="3469184"/>
            <a:ext cx="6604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AA25-F960-4F22-B614-1E8590FB9F5E}"/>
              </a:ext>
            </a:extLst>
          </p:cNvPr>
          <p:cNvSpPr txBox="1"/>
          <p:nvPr/>
        </p:nvSpPr>
        <p:spPr>
          <a:xfrm>
            <a:off x="2740397" y="2577068"/>
            <a:ext cx="3952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매크로 리스트를 저에게 전달해주세요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8DA141-4FE3-433C-A73B-22AF011CC2AA}"/>
              </a:ext>
            </a:extLst>
          </p:cNvPr>
          <p:cNvSpPr txBox="1"/>
          <p:nvPr/>
        </p:nvSpPr>
        <p:spPr>
          <a:xfrm>
            <a:off x="6211250" y="3491118"/>
            <a:ext cx="3952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매크로 리스트 보내드릴께요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0663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F257B55-EB2B-4C76-8CE4-8A52A3BB6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99" y="748329"/>
            <a:ext cx="1965916" cy="214515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8D5B556-E6BA-403A-AD12-4A7FB457D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102" y="748329"/>
            <a:ext cx="1828799" cy="22255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D5CF77-2811-4888-B1BD-729EE18C51F4}"/>
              </a:ext>
            </a:extLst>
          </p:cNvPr>
          <p:cNvSpPr txBox="1"/>
          <p:nvPr/>
        </p:nvSpPr>
        <p:spPr>
          <a:xfrm>
            <a:off x="1256800" y="315718"/>
            <a:ext cx="161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쿠팡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PC</a:t>
            </a:r>
            <a:endParaRPr lang="ko-KR" altLang="en-US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243545-141B-43BF-BBDD-0185D1E97E07}"/>
              </a:ext>
            </a:extLst>
          </p:cNvPr>
          <p:cNvSpPr txBox="1"/>
          <p:nvPr/>
        </p:nvSpPr>
        <p:spPr>
          <a:xfrm>
            <a:off x="9753600" y="31571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Zendesk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Server</a:t>
            </a:r>
            <a:endParaRPr lang="ko-KR" altLang="en-US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31B1FE2-EF12-4E8F-9BB0-89E74D3852B3}"/>
              </a:ext>
            </a:extLst>
          </p:cNvPr>
          <p:cNvCxnSpPr/>
          <p:nvPr/>
        </p:nvCxnSpPr>
        <p:spPr>
          <a:xfrm>
            <a:off x="2763520" y="1338306"/>
            <a:ext cx="6604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72DF81D-9133-4B98-9D57-86D6185C7F06}"/>
              </a:ext>
            </a:extLst>
          </p:cNvPr>
          <p:cNvCxnSpPr>
            <a:cxnSpLocks/>
          </p:cNvCxnSpPr>
          <p:nvPr/>
        </p:nvCxnSpPr>
        <p:spPr>
          <a:xfrm flipH="1">
            <a:off x="2763520" y="1861090"/>
            <a:ext cx="6604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AA25-F960-4F22-B614-1E8590FB9F5E}"/>
              </a:ext>
            </a:extLst>
          </p:cNvPr>
          <p:cNvSpPr txBox="1"/>
          <p:nvPr/>
        </p:nvSpPr>
        <p:spPr>
          <a:xfrm>
            <a:off x="2705267" y="686373"/>
            <a:ext cx="6918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https://coupangcustomersupport.zendesk.com/api/v2/macros.json</a:t>
            </a:r>
          </a:p>
          <a:p>
            <a:r>
              <a:rPr lang="en-US" altLang="ko-KR" sz="1600">
                <a:solidFill>
                  <a:srgbClr val="FF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  <a:r>
              <a:rPr lang="en-US" altLang="ko-KR" sz="1600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page=1</a:t>
            </a:r>
            <a:r>
              <a:rPr lang="en-US" altLang="ko-KR" sz="16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&amp;</a:t>
            </a:r>
            <a:r>
              <a:rPr lang="en-US" altLang="ko-KR" sz="1600">
                <a:solidFill>
                  <a:schemeClr val="accent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per_page=200</a:t>
            </a:r>
            <a:r>
              <a:rPr lang="en-US" altLang="ko-KR" sz="16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&amp;</a:t>
            </a:r>
            <a:r>
              <a:rPr lang="en-US" altLang="ko-KR" sz="1600">
                <a:solidFill>
                  <a:schemeClr val="accent4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active=true</a:t>
            </a:r>
            <a:endParaRPr lang="ko-KR" altLang="en-US" sz="1600">
              <a:solidFill>
                <a:schemeClr val="accent4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804542-909D-4000-AE2B-60564283F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628" y="1901730"/>
            <a:ext cx="4030892" cy="45713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342513-A62E-4D7A-87BF-941A480341B5}"/>
              </a:ext>
            </a:extLst>
          </p:cNvPr>
          <p:cNvSpPr txBox="1"/>
          <p:nvPr/>
        </p:nvSpPr>
        <p:spPr>
          <a:xfrm>
            <a:off x="4673809" y="1415032"/>
            <a:ext cx="2981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REST API </a:t>
            </a:r>
            <a:r>
              <a:rPr lang="ko-KR" altLang="en-US">
                <a:solidFill>
                  <a:srgbClr val="FF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데이터 통신 방식</a:t>
            </a:r>
            <a:r>
              <a:rPr lang="en-US" altLang="ko-KR">
                <a:solidFill>
                  <a:srgbClr val="FF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endParaRPr lang="ko-KR" altLang="en-US">
              <a:solidFill>
                <a:srgbClr val="FF000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5533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D904441-17D6-4012-8212-7DF9514F2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385901"/>
              </p:ext>
            </p:extLst>
          </p:nvPr>
        </p:nvGraphicFramePr>
        <p:xfrm>
          <a:off x="967078" y="1429851"/>
          <a:ext cx="4189731" cy="1809304"/>
        </p:xfrm>
        <a:graphic>
          <a:graphicData uri="http://schemas.openxmlformats.org/drawingml/2006/table">
            <a:tbl>
              <a:tblPr/>
              <a:tblGrid>
                <a:gridCol w="1120079">
                  <a:extLst>
                    <a:ext uri="{9D8B030D-6E8A-4147-A177-3AD203B41FA5}">
                      <a16:colId xmlns:a16="http://schemas.microsoft.com/office/drawing/2014/main" val="2490495160"/>
                    </a:ext>
                  </a:extLst>
                </a:gridCol>
                <a:gridCol w="829493">
                  <a:extLst>
                    <a:ext uri="{9D8B030D-6E8A-4147-A177-3AD203B41FA5}">
                      <a16:colId xmlns:a16="http://schemas.microsoft.com/office/drawing/2014/main" val="3160029795"/>
                    </a:ext>
                  </a:extLst>
                </a:gridCol>
                <a:gridCol w="829493">
                  <a:extLst>
                    <a:ext uri="{9D8B030D-6E8A-4147-A177-3AD203B41FA5}">
                      <a16:colId xmlns:a16="http://schemas.microsoft.com/office/drawing/2014/main" val="708681813"/>
                    </a:ext>
                  </a:extLst>
                </a:gridCol>
                <a:gridCol w="1410666">
                  <a:extLst>
                    <a:ext uri="{9D8B030D-6E8A-4147-A177-3AD203B41FA5}">
                      <a16:colId xmlns:a16="http://schemas.microsoft.com/office/drawing/2014/main" val="1867312013"/>
                    </a:ext>
                  </a:extLst>
                </a:gridCol>
              </a:tblGrid>
              <a:tr h="452326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이름</a:t>
                      </a:r>
                      <a:endParaRPr lang="ko-KR" alt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성별</a:t>
                      </a:r>
                      <a:endParaRPr lang="ko-KR" alt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나이</a:t>
                      </a:r>
                      <a:endParaRPr lang="ko-KR" alt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중간고사</a:t>
                      </a:r>
                      <a:endParaRPr lang="ko-KR" alt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634270"/>
                  </a:ext>
                </a:extLst>
              </a:tr>
              <a:tr h="452326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박아짐</a:t>
                      </a:r>
                      <a:endParaRPr lang="ko-KR" alt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남</a:t>
                      </a:r>
                      <a:endParaRPr lang="ko-KR" alt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38</a:t>
                      </a:r>
                      <a:endParaRPr lang="en-US" altLang="ko-K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A+</a:t>
                      </a:r>
                      <a:endParaRPr lang="en-US" altLang="ko-K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6759649"/>
                  </a:ext>
                </a:extLst>
              </a:tr>
              <a:tr h="452326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장제노</a:t>
                      </a:r>
                      <a:endParaRPr lang="ko-KR" alt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남</a:t>
                      </a:r>
                      <a:endParaRPr lang="ko-KR" alt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30</a:t>
                      </a:r>
                      <a:endParaRPr lang="en-US" altLang="ko-K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F</a:t>
                      </a:r>
                      <a:endParaRPr lang="en-US" altLang="ko-K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440735"/>
                  </a:ext>
                </a:extLst>
              </a:tr>
              <a:tr h="452326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조메건</a:t>
                      </a:r>
                      <a:endParaRPr lang="ko-KR" alt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여</a:t>
                      </a:r>
                      <a:endParaRPr lang="ko-KR" alt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22</a:t>
                      </a:r>
                      <a:endParaRPr lang="en-US" altLang="ko-K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B+</a:t>
                      </a:r>
                      <a:endParaRPr lang="en-US" altLang="ko-K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90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32952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B8F0A0A-3A0D-4C8B-91D1-DB0ABE81AAD9}"/>
              </a:ext>
            </a:extLst>
          </p:cNvPr>
          <p:cNvSpPr txBox="1"/>
          <p:nvPr/>
        </p:nvSpPr>
        <p:spPr>
          <a:xfrm>
            <a:off x="967078" y="844758"/>
            <a:ext cx="3952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Table 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형식의 데이터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8AEC9C-4269-4A32-8058-2928A1639F08}"/>
              </a:ext>
            </a:extLst>
          </p:cNvPr>
          <p:cNvSpPr txBox="1"/>
          <p:nvPr/>
        </p:nvSpPr>
        <p:spPr>
          <a:xfrm>
            <a:off x="6161049" y="1324184"/>
            <a:ext cx="3952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JSON 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형태의 데이터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98E1B8-FFE5-4FE2-974A-1383DE9B12CD}"/>
              </a:ext>
            </a:extLst>
          </p:cNvPr>
          <p:cNvSpPr txBox="1"/>
          <p:nvPr/>
        </p:nvSpPr>
        <p:spPr>
          <a:xfrm>
            <a:off x="6105138" y="1785704"/>
            <a:ext cx="4711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{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이름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박아짐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성별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남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나이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38,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중간고사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A+}</a:t>
            </a:r>
          </a:p>
          <a:p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{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이름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장제노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성별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남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나이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30,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중간고사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A+}</a:t>
            </a:r>
          </a:p>
          <a:p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{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이름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조메건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성별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나이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22,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중간고사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B+}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0F2825-30E4-4D32-BB7F-7BCC06023640}"/>
              </a:ext>
            </a:extLst>
          </p:cNvPr>
          <p:cNvSpPr txBox="1"/>
          <p:nvPr/>
        </p:nvSpPr>
        <p:spPr>
          <a:xfrm>
            <a:off x="816493" y="3742312"/>
            <a:ext cx="101508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{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이름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박아짐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성별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남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나이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38,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중간고사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[</a:t>
            </a:r>
            <a:r>
              <a:rPr lang="ko-KR" altLang="en-US">
                <a:solidFill>
                  <a:schemeClr val="accent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국어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70 ,</a:t>
            </a:r>
            <a:r>
              <a:rPr lang="ko-KR" altLang="en-US">
                <a:solidFill>
                  <a:schemeClr val="accent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영어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:60 , [</a:t>
            </a:r>
            <a:r>
              <a:rPr lang="ko-KR" altLang="en-US">
                <a:solidFill>
                  <a:schemeClr val="accent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외국어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:{</a:t>
            </a:r>
            <a:r>
              <a:rPr lang="ko-KR" altLang="en-US">
                <a:solidFill>
                  <a:schemeClr val="accent6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불어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:30 , </a:t>
            </a:r>
            <a:r>
              <a:rPr lang="ko-KR" altLang="en-US">
                <a:solidFill>
                  <a:schemeClr val="accent6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독어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90}]]</a:t>
            </a:r>
          </a:p>
          <a:p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{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이름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장제노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성별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남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나이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30,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중간고사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[</a:t>
            </a:r>
            <a:r>
              <a:rPr lang="ko-KR" altLang="en-US">
                <a:solidFill>
                  <a:schemeClr val="accent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국어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50 ,</a:t>
            </a:r>
            <a:r>
              <a:rPr lang="ko-KR" altLang="en-US">
                <a:solidFill>
                  <a:schemeClr val="accent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영어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:90 , [</a:t>
            </a:r>
            <a:r>
              <a:rPr lang="ko-KR" altLang="en-US">
                <a:solidFill>
                  <a:schemeClr val="accent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외국어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:{</a:t>
            </a:r>
            <a:r>
              <a:rPr lang="ko-KR" altLang="en-US">
                <a:solidFill>
                  <a:schemeClr val="accent6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불어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:80 , </a:t>
            </a:r>
            <a:r>
              <a:rPr lang="ko-KR" altLang="en-US">
                <a:solidFill>
                  <a:schemeClr val="accent6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독어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20}]]</a:t>
            </a:r>
          </a:p>
          <a:p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{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이름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조메건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성별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나이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22, </a:t>
            </a:r>
            <a:r>
              <a:rPr lang="ko-KR" altLang="en-US">
                <a:solidFill>
                  <a:schemeClr val="accent2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중간고사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[</a:t>
            </a:r>
            <a:r>
              <a:rPr lang="ko-KR" altLang="en-US">
                <a:solidFill>
                  <a:schemeClr val="accent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국어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40 ,</a:t>
            </a:r>
            <a:r>
              <a:rPr lang="ko-KR" altLang="en-US">
                <a:solidFill>
                  <a:schemeClr val="accent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영어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:80 , [</a:t>
            </a:r>
            <a:r>
              <a:rPr lang="ko-KR" altLang="en-US">
                <a:solidFill>
                  <a:schemeClr val="accent5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외국어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:{</a:t>
            </a:r>
            <a:r>
              <a:rPr lang="ko-KR" altLang="en-US">
                <a:solidFill>
                  <a:schemeClr val="accent6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불어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:30 , </a:t>
            </a:r>
            <a:r>
              <a:rPr lang="ko-KR" altLang="en-US">
                <a:solidFill>
                  <a:schemeClr val="accent6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독어</a:t>
            </a:r>
            <a:r>
              <a:rPr lang="ko-KR" altLang="en-US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60}]]</a:t>
            </a:r>
          </a:p>
        </p:txBody>
      </p:sp>
      <p:sp>
        <p:nvSpPr>
          <p:cNvPr id="3" name="화살표: 아래쪽 2">
            <a:extLst>
              <a:ext uri="{FF2B5EF4-FFF2-40B4-BE49-F238E27FC236}">
                <a16:creationId xmlns:a16="http://schemas.microsoft.com/office/drawing/2014/main" id="{E63CBE69-18D2-4218-A8E8-CD37E9234EC5}"/>
              </a:ext>
            </a:extLst>
          </p:cNvPr>
          <p:cNvSpPr/>
          <p:nvPr/>
        </p:nvSpPr>
        <p:spPr>
          <a:xfrm rot="16200000">
            <a:off x="5352706" y="2093411"/>
            <a:ext cx="636283" cy="2924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012444F-C735-4C62-911B-8005A80B2735}"/>
              </a:ext>
            </a:extLst>
          </p:cNvPr>
          <p:cNvCxnSpPr/>
          <p:nvPr/>
        </p:nvCxnSpPr>
        <p:spPr>
          <a:xfrm>
            <a:off x="882869" y="3545981"/>
            <a:ext cx="1020130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6FE62595-D6A9-4631-A843-0D9B1FA28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29" y="5002613"/>
            <a:ext cx="5505733" cy="96525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C58D89D-859E-419F-AAC2-3C2F40441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563" y="5015314"/>
            <a:ext cx="4724643" cy="952549"/>
          </a:xfrm>
          <a:prstGeom prst="rect">
            <a:avLst/>
          </a:prstGeom>
        </p:spPr>
      </p:pic>
      <p:sp>
        <p:nvSpPr>
          <p:cNvPr id="18" name="십자형 17">
            <a:extLst>
              <a:ext uri="{FF2B5EF4-FFF2-40B4-BE49-F238E27FC236}">
                <a16:creationId xmlns:a16="http://schemas.microsoft.com/office/drawing/2014/main" id="{A58EB970-9CCB-4E9C-BC6B-4D39AC8466A5}"/>
              </a:ext>
            </a:extLst>
          </p:cNvPr>
          <p:cNvSpPr/>
          <p:nvPr/>
        </p:nvSpPr>
        <p:spPr>
          <a:xfrm rot="18946844">
            <a:off x="1734469" y="5249855"/>
            <a:ext cx="630620" cy="619666"/>
          </a:xfrm>
          <a:prstGeom prst="plus">
            <a:avLst>
              <a:gd name="adj" fmla="val 3772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9" name="원형: 비어 있음 18">
            <a:extLst>
              <a:ext uri="{FF2B5EF4-FFF2-40B4-BE49-F238E27FC236}">
                <a16:creationId xmlns:a16="http://schemas.microsoft.com/office/drawing/2014/main" id="{9C9415F7-0882-47A2-B2B7-05273EE82464}"/>
              </a:ext>
            </a:extLst>
          </p:cNvPr>
          <p:cNvSpPr/>
          <p:nvPr/>
        </p:nvSpPr>
        <p:spPr>
          <a:xfrm>
            <a:off x="7472855" y="5289330"/>
            <a:ext cx="559676" cy="541245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238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24B94B5C-BB9C-41AF-A149-BF251E0C2898}"/>
              </a:ext>
            </a:extLst>
          </p:cNvPr>
          <p:cNvSpPr/>
          <p:nvPr/>
        </p:nvSpPr>
        <p:spPr>
          <a:xfrm>
            <a:off x="5403410" y="2736410"/>
            <a:ext cx="1385180" cy="13851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+mn-cs"/>
              </a:rPr>
              <a:t>03</a:t>
            </a:r>
            <a:endParaRPr kumimoji="0" lang="ko-KR" altLang="en-US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4CFE21-97EA-4774-87C4-D8BB8928B750}"/>
              </a:ext>
            </a:extLst>
          </p:cNvPr>
          <p:cNvSpPr txBox="1"/>
          <p:nvPr/>
        </p:nvSpPr>
        <p:spPr>
          <a:xfrm>
            <a:off x="3672509" y="1795508"/>
            <a:ext cx="48846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>
                <a:solidFill>
                  <a:srgbClr val="313844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NEXT</a:t>
            </a:r>
            <a:r>
              <a:rPr lang="ko-KR" altLang="en-US" sz="2800">
                <a:solidFill>
                  <a:srgbClr val="313844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2800">
                <a:solidFill>
                  <a:srgbClr val="313844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3824598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278F84E0-4E5E-4BC7-BD22-EB5B17F064FF}"/>
              </a:ext>
            </a:extLst>
          </p:cNvPr>
          <p:cNvSpPr/>
          <p:nvPr/>
        </p:nvSpPr>
        <p:spPr>
          <a:xfrm>
            <a:off x="2436891" y="1834459"/>
            <a:ext cx="7318218" cy="31890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>
                <a:solidFill>
                  <a:srgbClr val="4E8FB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Q &amp; A</a:t>
            </a:r>
            <a:endParaRPr lang="ko-KR" altLang="en-US" sz="4800" dirty="0">
              <a:solidFill>
                <a:srgbClr val="4E8FB0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1687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278F84E0-4E5E-4BC7-BD22-EB5B17F064FF}"/>
              </a:ext>
            </a:extLst>
          </p:cNvPr>
          <p:cNvSpPr/>
          <p:nvPr/>
        </p:nvSpPr>
        <p:spPr>
          <a:xfrm>
            <a:off x="2436891" y="1834459"/>
            <a:ext cx="7318218" cy="31890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>
                <a:solidFill>
                  <a:srgbClr val="4E8FB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감사합니다</a:t>
            </a:r>
            <a:r>
              <a:rPr lang="en-US" altLang="ko-KR" sz="4400" dirty="0">
                <a:solidFill>
                  <a:srgbClr val="4E8FB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  <a:endParaRPr lang="ko-KR" altLang="en-US" sz="4400" dirty="0">
              <a:solidFill>
                <a:srgbClr val="4E8FB0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3447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911</Words>
  <Application>Microsoft Office PowerPoint</Application>
  <PresentationFormat>와이드스크린</PresentationFormat>
  <Paragraphs>143</Paragraphs>
  <Slides>15</Slides>
  <Notes>5</Notes>
  <HiddenSlides>3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나눔스퀘어_ac</vt:lpstr>
      <vt:lpstr>나눔스퀘어_ac ExtraBold</vt:lpstr>
      <vt:lpstr>맑은 고딕</vt:lpstr>
      <vt:lpstr>배달의민족 주아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Dewy (Cho Ro Lee) [CS Learning and Development]</dc:creator>
  <cp:lastModifiedBy>Zeno (Ki Ho Jang) [CS Training]</cp:lastModifiedBy>
  <cp:revision>34</cp:revision>
  <dcterms:created xsi:type="dcterms:W3CDTF">2021-07-05T13:56:44Z</dcterms:created>
  <dcterms:modified xsi:type="dcterms:W3CDTF">2022-04-21T06:09:28Z</dcterms:modified>
</cp:coreProperties>
</file>